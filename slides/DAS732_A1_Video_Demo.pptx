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HOOK  |  Lakshya
"Hi, we're Lakshya, Arnav and Kalpit.
So everyone kind of assumes natural disasters are getting worse every year. We took EM-DAT - that's a hundred and twenty-three years of disaster records, two hundred and twenty-five countries, about fifteen thousand events - and we asked one question. Has it actually got worse? And are we getting any better at surviving it?
Short answer, yes to both. But the two halves don't fit together the way you'd think."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THE QUESTION  |  Lakshya
Use this slide while you finish the hook. The four cards are the four costs - counted, killed, displaced, cost. Point at them, don't read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0:20-1:00  PREPROCESSING  |  Lakshya  (the brief allows the first minute for this)
"Before we could plot anything, four things had to be fixed.
One: the file is semicolon-separated and uses commas as decimal points. So if you just open it normally, every number comes in as text.
Two: it's a snapshot from April 2023, so 2023 is only a part-year. We dropped those fifty-one rows - otherwise every trend line falls off a cliff right at the end.
Three: some of the hazard labels have a trailing space. So 'Extreme temperature' was quietly being counted as two different categories.
And four: we didn't just assume the adjusted damage column was inflation-adjusted, we checked it. It's the raw figure times a hundred over CPI, and CPI is exactly a hundred in 2022.
One more thing, and this one actually matters. Where a value was missing, we left it missing - we never filled it with zero. If you treat 'not reported' as 'nobody died', every old decade suddenly looks way safer than it 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THE SPLIT  |  Lakshya
"We split it three ways - when, where and what. We each own one question the whole way through: our own charts, our own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1:00-1:15  TASK A1.2  |  Lakshya
"Okay. Events per year. Looks like an explosion after 1970, right? That's where we nearly went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1:15-1:35  TASK A1.3  |  Lakshya
"Because look at this. Ninety-one percent of the whole record sits in forty-three percent of the years. And damage reporting never covers more than about half the records in any decade.
So this count is measuring how well people wrote things down, as much as it's measuring actual disasters. From here on, we use rates - not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1:35-1:55  TASK A1.4  |  Lakshya  --  the headline finding
"And this is the finding. Top panel is total deaths - peaks in the 1920s, five point two million. But look at the bottom panel. Deaths per event. It goes from about twenty thousand down to about a hundred and thirty. That's a ninety-nine point four percent drop.
[beat]
Quick note - two separate panels, not one chart with two y-axes. With a twin axis you get to pick where the lines cross, and that's not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1:55-2:15  TASK A1.5  |  Lakshya  --  do NOT skip this one
"Then we tried to break our own result. Take out just the three worst records from each decade - and the decline completely vanishes. The 2000s actually sit above the 1900s.
So that big fall in total deaths is mostly the giant disasters disappearing, things like the 1931 China flood. It's not that ordinary disasters got safer. The per-event number is the one that holds up.
Arnav, over to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2:15-2:35  TASKS B1.1 / B1.2  |  Arnav
*** DO THE MAP SWITCH LIVE IN TABLEAU - the rubric names "Tableau demo" explicitly ***
"Thanks. So - this is where disasters actually get recorded. And it's basically everywhere. All two hundred and twenty-five countries.
Now watch what happens when I switch the exact same map over to deaths. [SWITCH] It collapses onto two countries. China and India together are sixty-eight percent of all twenty-two point nine million deaths."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2:35-2:55  TASK B1.3  |  Arnav
"Same idea as four separate rankings - and they barely overlap. The US is number one for how many disasters it gets, and number one for money lost. And twenty-third for deaths. Bangladesh is the mirror image: third for deaths, twenty-third for damage.
Basically, if a country is rich, disasters cost it money instead of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2:55-3:10  TASK B1.4  |  Arnav
"This just puts a number on it. Two countries get you to half of all deaths. It takes twenty to get to half of all disasters."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TASK B1.5  |  Arnav  --  the slide that changed how we read the data
"And this is the one that changed how we read the whole dataset. These are the twenty most disaster-hit countries - so they're all heavily exposed, roughly comparable. And the death rate still varies by a factor of a thousand. China's at eleven thousand deaths per event. Australia's at eleven.
[beat]
Two honest caveats - there's no population data in this file, and China's number is pulled up by the old famines. But even allowing for both, that gap is far too big to be about the hazards. That's vulnerability.
Kalpit."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TASK C1.1  |  Kalpit  --  the key chart of Task Set C
"Thanks. If I could keep one chart from this whole project, it'd be this one. Four bars, same seven hazards, same order every time.
[beat]
Drought is five percent of events. And fifty-one percent of deaths. Storms are the exact opposite - thirty-one percent of events, forty-two percent of the money, six percent of the deaths. So what a hazard's share of disasters tells you about its share of harm is basically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3:55-4:05  TASK C1.2  |  Kalpit
"Here's each hazard placed by how deadly and how expensive a typical one is. Drought's out on its own on the right. Wildfire is the opposite corner - expensive, but a typical one kills seven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4:05-4:20  TASK C1.3  |  Kalpit
"Money over time, all in 2022 dollars. The 2010s cost two point zero seven trillion - that's a record. And damage reporting doesn't get better after 1970, so that rise isn't just better record-keeping."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4:20-4:35  TASK C1.4  |  Kalpit
"But the improvement isn't even. Drought went from twenty-nine thousand deaths per event down to fifty-three. Floods and storms dropped too - and those are all things you get warning about. Earthquakes, which you don't get warning about, didn't improve at all.
And heatwaves went the wrong way. A hundred and twenty-five in the sixties, twelve hundred in the 2020s."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4:35-4:45  TASK C1.5  |  Kalpit
"Last one. Since 1970: disasters, damage, people affected - all clearly rising. Deaths? No significant trend at all, p is 0.064. And the correlation between deaths and damage is basically zero.
They have completely come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4:45-5:00  CLOSE  |  any one of you
"So - more exposure, less vulnerability, and a much bigger bill.
We got a lot better at not dying in disasters. Just not everywhere, not at all for earthquakes, and with heat it's actually going backwards.
Thanks for watching."
HARD STOP at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43E"/>
        </a:solidFill>
      </p:bgPr>
    </p:bg>
    <p:spTree>
      <p:nvGrpSpPr>
        <p:cNvPr id="1" name=""/>
        <p:cNvGrpSpPr/>
        <p:nvPr/>
      </p:nvGrpSpPr>
      <p:grpSpPr>
        <a:xfrm>
          <a:off x="0" y="0"/>
          <a:ext cx="0" cy="0"/>
          <a:chOff x="0" y="0"/>
          <a:chExt cx="0" cy="0"/>
        </a:xfrm>
      </p:grpSpPr>
      <p:sp>
        <p:nvSpPr>
          <p:cNvPr id="2" name="Text 0"/>
          <p:cNvSpPr txBox="1"/>
          <p:nvPr/>
        </p:nvSpPr>
        <p:spPr>
          <a:xfrm>
            <a:off x="457200" y="1143000"/>
            <a:ext cx="8229600" cy="68580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A Century of Natural Disasters</a:t>
            </a:r>
            <a:endParaRPr lang="en-US" sz="4000" dirty="0"/>
          </a:p>
        </p:txBody>
      </p:sp>
      <p:sp>
        <p:nvSpPr>
          <p:cNvPr id="3" name="Text 1"/>
          <p:cNvSpPr txBox="1"/>
          <p:nvPr/>
        </p:nvSpPr>
        <p:spPr>
          <a:xfrm>
            <a:off x="457200" y="1847088"/>
            <a:ext cx="8229600" cy="457200"/>
          </a:xfrm>
          <a:prstGeom prst="rect">
            <a:avLst/>
          </a:prstGeom>
          <a:noFill/>
          <a:ln/>
        </p:spPr>
        <p:txBody>
          <a:bodyPr wrap="square" lIns="0" tIns="0" rIns="0" bIns="0" rtlCol="0" anchor="ctr"/>
          <a:lstStyle/>
          <a:p>
            <a:pPr indent="0" marL="0">
              <a:buNone/>
            </a:pPr>
            <a:r>
              <a:rPr lang="en-US" sz="2200" dirty="0">
                <a:solidFill>
                  <a:srgbClr val="CADCFC"/>
                </a:solidFill>
                <a:latin typeface="Calibri" pitchFamily="34" charset="0"/>
                <a:ea typeface="Calibri" pitchFamily="34" charset="-122"/>
                <a:cs typeface="Calibri" pitchFamily="34" charset="-120"/>
              </a:rPr>
              <a:t>More events, fewer deaths, bigger bills</a:t>
            </a:r>
            <a:endParaRPr lang="en-US" sz="2200" dirty="0"/>
          </a:p>
        </p:txBody>
      </p:sp>
      <p:sp>
        <p:nvSpPr>
          <p:cNvPr id="4" name="Text 2"/>
          <p:cNvSpPr txBox="1"/>
          <p:nvPr/>
        </p:nvSpPr>
        <p:spPr>
          <a:xfrm>
            <a:off x="457200" y="2395728"/>
            <a:ext cx="8229600" cy="310896"/>
          </a:xfrm>
          <a:prstGeom prst="rect">
            <a:avLst/>
          </a:prstGeom>
          <a:noFill/>
          <a:ln/>
        </p:spPr>
        <p:txBody>
          <a:bodyPr wrap="square" lIns="0" tIns="0" rIns="0" bIns="0" rtlCol="0" anchor="ctr"/>
          <a:lstStyle/>
          <a:p>
            <a:pPr indent="0" marL="0">
              <a:buNone/>
            </a:pPr>
            <a:r>
              <a:rPr lang="en-US" sz="1300" dirty="0">
                <a:solidFill>
                  <a:srgbClr val="9FB3CC"/>
                </a:solidFill>
                <a:latin typeface="Calibri" pitchFamily="34" charset="0"/>
                <a:ea typeface="Calibri" pitchFamily="34" charset="-122"/>
                <a:cs typeface="Calibri" pitchFamily="34" charset="-120"/>
              </a:rPr>
              <a:t>Visual exploration of the EM-DAT Emergency Events Database, 1900-2022</a:t>
            </a:r>
            <a:endParaRPr lang="en-US" sz="1300" dirty="0"/>
          </a:p>
        </p:txBody>
      </p:sp>
      <p:sp>
        <p:nvSpPr>
          <p:cNvPr id="5" name="Shape 3"/>
          <p:cNvSpPr/>
          <p:nvPr/>
        </p:nvSpPr>
        <p:spPr>
          <a:xfrm>
            <a:off x="457200" y="3127248"/>
            <a:ext cx="164592" cy="164592"/>
          </a:xfrm>
          <a:prstGeom prst="ellipse">
            <a:avLst/>
          </a:prstGeom>
          <a:solidFill>
            <a:srgbClr val="2A78D6"/>
          </a:solidFill>
          <a:ln w="12700">
            <a:solidFill>
              <a:srgbClr val="2A78D6"/>
            </a:solidFill>
            <a:prstDash val="solid"/>
          </a:ln>
        </p:spPr>
      </p:sp>
      <p:sp>
        <p:nvSpPr>
          <p:cNvPr id="6" name="Text 4"/>
          <p:cNvSpPr txBox="1"/>
          <p:nvPr/>
        </p:nvSpPr>
        <p:spPr>
          <a:xfrm>
            <a:off x="749808" y="3063240"/>
            <a:ext cx="265176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Lakshya Jain  (BT2024044)</a:t>
            </a:r>
            <a:endParaRPr lang="en-US" sz="1300" dirty="0"/>
          </a:p>
        </p:txBody>
      </p:sp>
      <p:sp>
        <p:nvSpPr>
          <p:cNvPr id="7" name="Text 5"/>
          <p:cNvSpPr txBox="1"/>
          <p:nvPr/>
        </p:nvSpPr>
        <p:spPr>
          <a:xfrm>
            <a:off x="3429000" y="3063240"/>
            <a:ext cx="5120640" cy="292608"/>
          </a:xfrm>
          <a:prstGeom prst="rect">
            <a:avLst/>
          </a:prstGeom>
          <a:noFill/>
          <a:ln/>
        </p:spPr>
        <p:txBody>
          <a:bodyPr wrap="square" lIns="0" tIns="0" rIns="0" bIns="0" rtlCol="0" anchor="ctr"/>
          <a:lstStyle/>
          <a:p>
            <a:pPr indent="0" marL="0">
              <a:buNone/>
            </a:pPr>
            <a:r>
              <a:rPr lang="en-US" sz="1300" dirty="0">
                <a:solidFill>
                  <a:srgbClr val="9FB3CC"/>
                </a:solidFill>
                <a:latin typeface="Calibri" pitchFamily="34" charset="0"/>
                <a:ea typeface="Calibri" pitchFamily="34" charset="-122"/>
                <a:cs typeface="Calibri" pitchFamily="34" charset="-120"/>
              </a:rPr>
              <a:t>When?  The temporal record</a:t>
            </a:r>
            <a:endParaRPr lang="en-US" sz="1300" dirty="0"/>
          </a:p>
        </p:txBody>
      </p:sp>
      <p:sp>
        <p:nvSpPr>
          <p:cNvPr id="8" name="Shape 6"/>
          <p:cNvSpPr/>
          <p:nvPr/>
        </p:nvSpPr>
        <p:spPr>
          <a:xfrm>
            <a:off x="457200" y="3529584"/>
            <a:ext cx="164592" cy="164592"/>
          </a:xfrm>
          <a:prstGeom prst="ellipse">
            <a:avLst/>
          </a:prstGeom>
          <a:solidFill>
            <a:srgbClr val="EB6834"/>
          </a:solidFill>
          <a:ln w="12700">
            <a:solidFill>
              <a:srgbClr val="EB6834"/>
            </a:solidFill>
            <a:prstDash val="solid"/>
          </a:ln>
        </p:spPr>
      </p:sp>
      <p:sp>
        <p:nvSpPr>
          <p:cNvPr id="9" name="Text 7"/>
          <p:cNvSpPr txBox="1"/>
          <p:nvPr/>
        </p:nvSpPr>
        <p:spPr>
          <a:xfrm>
            <a:off x="749808" y="3465576"/>
            <a:ext cx="265176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Arnav Jain  (BT2024233)</a:t>
            </a:r>
            <a:endParaRPr lang="en-US" sz="1300" dirty="0"/>
          </a:p>
        </p:txBody>
      </p:sp>
      <p:sp>
        <p:nvSpPr>
          <p:cNvPr id="10" name="Text 8"/>
          <p:cNvSpPr txBox="1"/>
          <p:nvPr/>
        </p:nvSpPr>
        <p:spPr>
          <a:xfrm>
            <a:off x="3429000" y="3465576"/>
            <a:ext cx="5120640" cy="292608"/>
          </a:xfrm>
          <a:prstGeom prst="rect">
            <a:avLst/>
          </a:prstGeom>
          <a:noFill/>
          <a:ln/>
        </p:spPr>
        <p:txBody>
          <a:bodyPr wrap="square" lIns="0" tIns="0" rIns="0" bIns="0" rtlCol="0" anchor="ctr"/>
          <a:lstStyle/>
          <a:p>
            <a:pPr indent="0" marL="0">
              <a:buNone/>
            </a:pPr>
            <a:r>
              <a:rPr lang="en-US" sz="1300" dirty="0">
                <a:solidFill>
                  <a:srgbClr val="9FB3CC"/>
                </a:solidFill>
                <a:latin typeface="Calibri" pitchFamily="34" charset="0"/>
                <a:ea typeface="Calibri" pitchFamily="34" charset="-122"/>
                <a:cs typeface="Calibri" pitchFamily="34" charset="-120"/>
              </a:rPr>
              <a:t>Where?  The geography of exposure</a:t>
            </a:r>
            <a:endParaRPr lang="en-US" sz="1300" dirty="0"/>
          </a:p>
        </p:txBody>
      </p:sp>
      <p:sp>
        <p:nvSpPr>
          <p:cNvPr id="11" name="Shape 9"/>
          <p:cNvSpPr/>
          <p:nvPr/>
        </p:nvSpPr>
        <p:spPr>
          <a:xfrm>
            <a:off x="457200" y="3931920"/>
            <a:ext cx="164592" cy="164592"/>
          </a:xfrm>
          <a:prstGeom prst="ellipse">
            <a:avLst/>
          </a:prstGeom>
          <a:solidFill>
            <a:srgbClr val="EDA100"/>
          </a:solidFill>
          <a:ln w="12700">
            <a:solidFill>
              <a:srgbClr val="EDA100"/>
            </a:solidFill>
            <a:prstDash val="solid"/>
          </a:ln>
        </p:spPr>
      </p:sp>
      <p:sp>
        <p:nvSpPr>
          <p:cNvPr id="12" name="Text 10"/>
          <p:cNvSpPr txBox="1"/>
          <p:nvPr/>
        </p:nvSpPr>
        <p:spPr>
          <a:xfrm>
            <a:off x="749808" y="3867912"/>
            <a:ext cx="265176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Kalpit  (BT2024093)</a:t>
            </a:r>
            <a:endParaRPr lang="en-US" sz="1300" dirty="0"/>
          </a:p>
        </p:txBody>
      </p:sp>
      <p:sp>
        <p:nvSpPr>
          <p:cNvPr id="13" name="Text 11"/>
          <p:cNvSpPr txBox="1"/>
          <p:nvPr/>
        </p:nvSpPr>
        <p:spPr>
          <a:xfrm>
            <a:off x="3429000" y="3867912"/>
            <a:ext cx="5120640" cy="292608"/>
          </a:xfrm>
          <a:prstGeom prst="rect">
            <a:avLst/>
          </a:prstGeom>
          <a:noFill/>
          <a:ln/>
        </p:spPr>
        <p:txBody>
          <a:bodyPr wrap="square" lIns="0" tIns="0" rIns="0" bIns="0" rtlCol="0" anchor="ctr"/>
          <a:lstStyle/>
          <a:p>
            <a:pPr indent="0" marL="0">
              <a:buNone/>
            </a:pPr>
            <a:r>
              <a:rPr lang="en-US" sz="1300" dirty="0">
                <a:solidFill>
                  <a:srgbClr val="9FB3CC"/>
                </a:solidFill>
                <a:latin typeface="Calibri" pitchFamily="34" charset="0"/>
                <a:ea typeface="Calibri" pitchFamily="34" charset="-122"/>
                <a:cs typeface="Calibri" pitchFamily="34" charset="-120"/>
              </a:rPr>
              <a:t>What?  The impact signature of hazards</a:t>
            </a:r>
            <a:endParaRPr lang="en-US" sz="1300" dirty="0"/>
          </a:p>
        </p:txBody>
      </p:sp>
      <p:sp>
        <p:nvSpPr>
          <p:cNvPr id="14" name="Text 12"/>
          <p:cNvSpPr txBox="1"/>
          <p:nvPr/>
        </p:nvSpPr>
        <p:spPr>
          <a:xfrm>
            <a:off x="457200" y="4576572"/>
            <a:ext cx="8229600" cy="292608"/>
          </a:xfrm>
          <a:prstGeom prst="rect">
            <a:avLst/>
          </a:prstGeom>
          <a:noFill/>
          <a:ln/>
        </p:spPr>
        <p:txBody>
          <a:bodyPr wrap="square" lIns="0" tIns="0" rIns="0" bIns="0" rtlCol="0" anchor="ctr"/>
          <a:lstStyle/>
          <a:p>
            <a:pPr indent="0" marL="0">
              <a:buNone/>
            </a:pPr>
            <a:r>
              <a:rPr lang="en-US" sz="1100" dirty="0">
                <a:solidFill>
                  <a:srgbClr val="7C93AD"/>
                </a:solidFill>
                <a:latin typeface="Calibri" pitchFamily="34" charset="0"/>
                <a:ea typeface="Calibri" pitchFamily="34" charset="-122"/>
                <a:cs typeface="Calibri" pitchFamily="34" charset="-120"/>
              </a:rPr>
              <a:t>DAS732 Data Visualization  ·  Programming Assignment 1  ·  IIIT Bangalore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457200" y="237744"/>
            <a:ext cx="8229600" cy="585216"/>
          </a:xfrm>
          <a:prstGeom prst="rect">
            <a:avLst/>
          </a:prstGeom>
          <a:noFill/>
          <a:ln/>
        </p:spPr>
        <p:txBody>
          <a:bodyPr wrap="square" lIns="0" tIns="0" rIns="0" bIns="0" rtlCol="0" anchor="ctr"/>
          <a:lstStyle/>
          <a:p>
            <a:pPr indent="0" marL="0">
              <a:buNone/>
            </a:pPr>
            <a:r>
              <a:rPr lang="en-US" sz="2500" b="1" dirty="0">
                <a:solidFill>
                  <a:srgbClr val="0B0B0B"/>
                </a:solidFill>
                <a:latin typeface="Calibri" pitchFamily="34" charset="0"/>
                <a:ea typeface="Calibri" pitchFamily="34" charset="-122"/>
                <a:cs typeface="Calibri" pitchFamily="34" charset="-120"/>
              </a:rPr>
              <a:t>One question</a:t>
            </a:r>
            <a:endParaRPr lang="en-US" sz="2500" dirty="0"/>
          </a:p>
        </p:txBody>
      </p:sp>
      <p:sp>
        <p:nvSpPr>
          <p:cNvPr id="3" name="Shape 1"/>
          <p:cNvSpPr/>
          <p:nvPr/>
        </p:nvSpPr>
        <p:spPr>
          <a:xfrm>
            <a:off x="6812280" y="4485132"/>
            <a:ext cx="1874520" cy="310896"/>
          </a:xfrm>
          <a:prstGeom prst="roundRect">
            <a:avLst>
              <a:gd name="adj" fmla="val 50000"/>
            </a:avLst>
          </a:prstGeom>
          <a:solidFill>
            <a:srgbClr val="10243E"/>
          </a:solidFill>
          <a:ln w="12700">
            <a:solidFill>
              <a:srgbClr val="10243E"/>
            </a:solidFill>
            <a:prstDash val="solid"/>
          </a:ln>
        </p:spPr>
      </p:sp>
      <p:sp>
        <p:nvSpPr>
          <p:cNvPr id="4" name="Shape 2"/>
          <p:cNvSpPr/>
          <p:nvPr/>
        </p:nvSpPr>
        <p:spPr>
          <a:xfrm>
            <a:off x="6967728" y="4585716"/>
            <a:ext cx="118872" cy="118872"/>
          </a:xfrm>
          <a:prstGeom prst="ellipse">
            <a:avLst/>
          </a:prstGeom>
          <a:solidFill>
            <a:srgbClr val="2A78D6"/>
          </a:solidFill>
          <a:ln w="12700">
            <a:solidFill>
              <a:srgbClr val="2A78D6"/>
            </a:solidFill>
            <a:prstDash val="solid"/>
          </a:ln>
        </p:spPr>
      </p:sp>
      <p:sp>
        <p:nvSpPr>
          <p:cNvPr id="5" name="Text 3"/>
          <p:cNvSpPr txBox="1"/>
          <p:nvPr/>
        </p:nvSpPr>
        <p:spPr>
          <a:xfrm>
            <a:off x="7141464" y="4485132"/>
            <a:ext cx="1417320" cy="310896"/>
          </a:xfrm>
          <a:prstGeom prst="rect">
            <a:avLst/>
          </a:prstGeom>
          <a:noFill/>
          <a:ln/>
        </p:spPr>
        <p:txBody>
          <a:bodyPr wrap="square" lIns="0" tIns="0" rIns="0" bIns="0" rtlCol="0" anchor="ctr"/>
          <a:lstStyle/>
          <a:p>
            <a:pPr algn="l" indent="0" marL="0">
              <a:buNone/>
            </a:pPr>
            <a:r>
              <a:rPr lang="en-US" sz="1100" b="1" dirty="0">
                <a:solidFill>
                  <a:srgbClr val="FFFFFF"/>
                </a:solidFill>
                <a:latin typeface="Calibri" pitchFamily="34" charset="0"/>
                <a:ea typeface="Calibri" pitchFamily="34" charset="-122"/>
                <a:cs typeface="Calibri" pitchFamily="34" charset="-120"/>
              </a:rPr>
              <a:t>Lakshya Jain</a:t>
            </a:r>
            <a:endParaRPr lang="en-US" sz="1100" dirty="0"/>
          </a:p>
        </p:txBody>
      </p:sp>
      <p:sp>
        <p:nvSpPr>
          <p:cNvPr id="6" name="Shape 4"/>
          <p:cNvSpPr/>
          <p:nvPr/>
        </p:nvSpPr>
        <p:spPr>
          <a:xfrm>
            <a:off x="457200" y="960120"/>
            <a:ext cx="8229600" cy="960120"/>
          </a:xfrm>
          <a:prstGeom prst="roundRect">
            <a:avLst>
              <a:gd name="adj" fmla="val 5714"/>
            </a:avLst>
          </a:prstGeom>
          <a:solidFill>
            <a:srgbClr val="F4F3EF"/>
          </a:solidFill>
          <a:ln w="12700">
            <a:solidFill>
              <a:srgbClr val="F4F3EF"/>
            </a:solidFill>
            <a:prstDash val="solid"/>
          </a:ln>
        </p:spPr>
      </p:sp>
      <p:sp>
        <p:nvSpPr>
          <p:cNvPr id="7" name="Text 5"/>
          <p:cNvSpPr txBox="1"/>
          <p:nvPr/>
        </p:nvSpPr>
        <p:spPr>
          <a:xfrm>
            <a:off x="777240" y="960120"/>
            <a:ext cx="7589520" cy="960120"/>
          </a:xfrm>
          <a:prstGeom prst="rect">
            <a:avLst/>
          </a:prstGeom>
          <a:noFill/>
          <a:ln/>
        </p:spPr>
        <p:txBody>
          <a:bodyPr wrap="square" lIns="0" tIns="0" rIns="0" bIns="0" rtlCol="0" anchor="ctr"/>
          <a:lstStyle/>
          <a:p>
            <a:pPr indent="0" marL="0">
              <a:lnSpc>
                <a:spcPct val="115000"/>
              </a:lnSpc>
              <a:buNone/>
            </a:pPr>
            <a:r>
              <a:rPr lang="en-US" sz="1800" b="1" dirty="0">
                <a:solidFill>
                  <a:srgbClr val="0B0B0B"/>
                </a:solidFill>
                <a:latin typeface="Calibri" pitchFamily="34" charset="0"/>
                <a:ea typeface="Calibri" pitchFamily="34" charset="-122"/>
                <a:cs typeface="Calibri" pitchFamily="34" charset="-120"/>
              </a:rPr>
              <a:t>Over 1900-2022, has the burden of natural disasters actually grown -</a:t>
            </a:r>
            <a:endParaRPr lang="en-US" sz="1800" dirty="0"/>
          </a:p>
          <a:p>
            <a:pPr indent="0" marL="0">
              <a:lnSpc>
                <a:spcPct val="115000"/>
              </a:lnSpc>
              <a:buNone/>
            </a:pPr>
            <a:r>
              <a:rPr lang="en-US" sz="1800" b="1" dirty="0">
                <a:solidFill>
                  <a:srgbClr val="0B0B0B"/>
                </a:solidFill>
                <a:latin typeface="Calibri" pitchFamily="34" charset="0"/>
                <a:ea typeface="Calibri" pitchFamily="34" charset="-122"/>
                <a:cs typeface="Calibri" pitchFamily="34" charset="-120"/>
              </a:rPr>
              <a:t>and has the world become better or worse at surviving it?</a:t>
            </a:r>
            <a:endParaRPr lang="en-US" sz="1800" dirty="0"/>
          </a:p>
        </p:txBody>
      </p:sp>
      <p:sp>
        <p:nvSpPr>
          <p:cNvPr id="8" name="Text 6"/>
          <p:cNvSpPr txBox="1"/>
          <p:nvPr/>
        </p:nvSpPr>
        <p:spPr>
          <a:xfrm>
            <a:off x="457200" y="2148840"/>
            <a:ext cx="8229600" cy="292608"/>
          </a:xfrm>
          <a:prstGeom prst="rect">
            <a:avLst/>
          </a:prstGeom>
          <a:noFill/>
          <a:ln/>
        </p:spPr>
        <p:txBody>
          <a:bodyPr wrap="square" lIns="0" tIns="0" rIns="0" bIns="0" rtlCol="0" anchor="ctr"/>
          <a:lstStyle/>
          <a:p>
            <a:pPr indent="0" marL="0">
              <a:buNone/>
            </a:pPr>
            <a:r>
              <a:rPr lang="en-US" sz="1400" dirty="0">
                <a:solidFill>
                  <a:srgbClr val="52514E"/>
                </a:solidFill>
                <a:latin typeface="Calibri" pitchFamily="34" charset="0"/>
                <a:ea typeface="Calibri" pitchFamily="34" charset="-122"/>
                <a:cs typeface="Calibri" pitchFamily="34" charset="-120"/>
              </a:rPr>
              <a:t>A disaster has no single cost - and the four costs do not move together.</a:t>
            </a:r>
            <a:endParaRPr lang="en-US" sz="1400" dirty="0"/>
          </a:p>
        </p:txBody>
      </p:sp>
      <p:sp>
        <p:nvSpPr>
          <p:cNvPr id="9" name="Shape 7"/>
          <p:cNvSpPr/>
          <p:nvPr/>
        </p:nvSpPr>
        <p:spPr>
          <a:xfrm>
            <a:off x="457200" y="2578608"/>
            <a:ext cx="1956816" cy="1243584"/>
          </a:xfrm>
          <a:prstGeom prst="roundRect">
            <a:avLst>
              <a:gd name="adj" fmla="val 4412"/>
            </a:avLst>
          </a:prstGeom>
          <a:solidFill>
            <a:srgbClr val="FFFFFF"/>
          </a:solidFill>
          <a:ln w="12700">
            <a:solidFill>
              <a:srgbClr val="E3E2DE"/>
            </a:solidFill>
            <a:prstDash val="solid"/>
          </a:ln>
        </p:spPr>
      </p:sp>
      <p:sp>
        <p:nvSpPr>
          <p:cNvPr id="10" name="Shape 8"/>
          <p:cNvSpPr/>
          <p:nvPr/>
        </p:nvSpPr>
        <p:spPr>
          <a:xfrm>
            <a:off x="658368" y="2761488"/>
            <a:ext cx="237744" cy="237744"/>
          </a:xfrm>
          <a:prstGeom prst="ellipse">
            <a:avLst/>
          </a:prstGeom>
          <a:solidFill>
            <a:srgbClr val="2A78D6"/>
          </a:solidFill>
          <a:ln w="12700">
            <a:solidFill>
              <a:srgbClr val="2A78D6"/>
            </a:solidFill>
            <a:prstDash val="solid"/>
          </a:ln>
        </p:spPr>
      </p:sp>
      <p:sp>
        <p:nvSpPr>
          <p:cNvPr id="11" name="Text 9"/>
          <p:cNvSpPr txBox="1"/>
          <p:nvPr/>
        </p:nvSpPr>
        <p:spPr>
          <a:xfrm>
            <a:off x="987552" y="2724912"/>
            <a:ext cx="1271016" cy="310896"/>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Counted</a:t>
            </a:r>
            <a:endParaRPr lang="en-US" sz="1500" dirty="0"/>
          </a:p>
        </p:txBody>
      </p:sp>
      <p:sp>
        <p:nvSpPr>
          <p:cNvPr id="12" name="Text 10"/>
          <p:cNvSpPr txBox="1"/>
          <p:nvPr/>
        </p:nvSpPr>
        <p:spPr>
          <a:xfrm>
            <a:off x="658368" y="3145536"/>
            <a:ext cx="1554480" cy="475488"/>
          </a:xfrm>
          <a:prstGeom prst="rect">
            <a:avLst/>
          </a:prstGeom>
          <a:noFill/>
          <a:ln/>
        </p:spPr>
        <p:txBody>
          <a:bodyPr wrap="square" lIns="0" tIns="0" rIns="0" bIns="0" rtlCol="0" anchor="ctr"/>
          <a:lstStyle/>
          <a:p>
            <a:pPr indent="0" marL="0">
              <a:buNone/>
            </a:pPr>
            <a:r>
              <a:rPr lang="en-US" sz="1700" b="1" dirty="0">
                <a:solidFill>
                  <a:srgbClr val="0B0B0B"/>
                </a:solidFill>
                <a:latin typeface="Calibri" pitchFamily="34" charset="0"/>
                <a:ea typeface="Calibri" pitchFamily="34" charset="-122"/>
                <a:cs typeface="Calibri" pitchFamily="34" charset="-120"/>
              </a:rPr>
              <a:t>15,015 events</a:t>
            </a:r>
            <a:endParaRPr lang="en-US" sz="1700" dirty="0"/>
          </a:p>
        </p:txBody>
      </p:sp>
      <p:sp>
        <p:nvSpPr>
          <p:cNvPr id="13" name="Shape 11"/>
          <p:cNvSpPr/>
          <p:nvPr/>
        </p:nvSpPr>
        <p:spPr>
          <a:xfrm>
            <a:off x="2679192" y="2578608"/>
            <a:ext cx="1956816" cy="1243584"/>
          </a:xfrm>
          <a:prstGeom prst="roundRect">
            <a:avLst>
              <a:gd name="adj" fmla="val 4412"/>
            </a:avLst>
          </a:prstGeom>
          <a:solidFill>
            <a:srgbClr val="FFFFFF"/>
          </a:solidFill>
          <a:ln w="12700">
            <a:solidFill>
              <a:srgbClr val="E3E2DE"/>
            </a:solidFill>
            <a:prstDash val="solid"/>
          </a:ln>
        </p:spPr>
      </p:sp>
      <p:sp>
        <p:nvSpPr>
          <p:cNvPr id="14" name="Shape 12"/>
          <p:cNvSpPr/>
          <p:nvPr/>
        </p:nvSpPr>
        <p:spPr>
          <a:xfrm>
            <a:off x="2880360" y="2761488"/>
            <a:ext cx="237744" cy="237744"/>
          </a:xfrm>
          <a:prstGeom prst="ellipse">
            <a:avLst/>
          </a:prstGeom>
          <a:solidFill>
            <a:srgbClr val="EB6834"/>
          </a:solidFill>
          <a:ln w="12700">
            <a:solidFill>
              <a:srgbClr val="EB6834"/>
            </a:solidFill>
            <a:prstDash val="solid"/>
          </a:ln>
        </p:spPr>
      </p:sp>
      <p:sp>
        <p:nvSpPr>
          <p:cNvPr id="15" name="Text 13"/>
          <p:cNvSpPr txBox="1"/>
          <p:nvPr/>
        </p:nvSpPr>
        <p:spPr>
          <a:xfrm>
            <a:off x="3209544" y="2724912"/>
            <a:ext cx="1271016" cy="310896"/>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Killed</a:t>
            </a:r>
            <a:endParaRPr lang="en-US" sz="1500" dirty="0"/>
          </a:p>
        </p:txBody>
      </p:sp>
      <p:sp>
        <p:nvSpPr>
          <p:cNvPr id="16" name="Text 14"/>
          <p:cNvSpPr txBox="1"/>
          <p:nvPr/>
        </p:nvSpPr>
        <p:spPr>
          <a:xfrm>
            <a:off x="2880360" y="3145536"/>
            <a:ext cx="1554480" cy="475488"/>
          </a:xfrm>
          <a:prstGeom prst="rect">
            <a:avLst/>
          </a:prstGeom>
          <a:noFill/>
          <a:ln/>
        </p:spPr>
        <p:txBody>
          <a:bodyPr wrap="square" lIns="0" tIns="0" rIns="0" bIns="0" rtlCol="0" anchor="ctr"/>
          <a:lstStyle/>
          <a:p>
            <a:pPr indent="0" marL="0">
              <a:buNone/>
            </a:pPr>
            <a:r>
              <a:rPr lang="en-US" sz="1700" b="1" dirty="0">
                <a:solidFill>
                  <a:srgbClr val="0B0B0B"/>
                </a:solidFill>
                <a:latin typeface="Calibri" pitchFamily="34" charset="0"/>
                <a:ea typeface="Calibri" pitchFamily="34" charset="-122"/>
                <a:cs typeface="Calibri" pitchFamily="34" charset="-120"/>
              </a:rPr>
              <a:t>22.9M deaths</a:t>
            </a:r>
            <a:endParaRPr lang="en-US" sz="1700" dirty="0"/>
          </a:p>
        </p:txBody>
      </p:sp>
      <p:sp>
        <p:nvSpPr>
          <p:cNvPr id="17" name="Shape 15"/>
          <p:cNvSpPr/>
          <p:nvPr/>
        </p:nvSpPr>
        <p:spPr>
          <a:xfrm>
            <a:off x="4901184" y="2578608"/>
            <a:ext cx="1956816" cy="1243584"/>
          </a:xfrm>
          <a:prstGeom prst="roundRect">
            <a:avLst>
              <a:gd name="adj" fmla="val 4412"/>
            </a:avLst>
          </a:prstGeom>
          <a:solidFill>
            <a:srgbClr val="FFFFFF"/>
          </a:solidFill>
          <a:ln w="12700">
            <a:solidFill>
              <a:srgbClr val="E3E2DE"/>
            </a:solidFill>
            <a:prstDash val="solid"/>
          </a:ln>
        </p:spPr>
      </p:sp>
      <p:sp>
        <p:nvSpPr>
          <p:cNvPr id="18" name="Shape 16"/>
          <p:cNvSpPr/>
          <p:nvPr/>
        </p:nvSpPr>
        <p:spPr>
          <a:xfrm>
            <a:off x="5102352" y="2761488"/>
            <a:ext cx="237744" cy="237744"/>
          </a:xfrm>
          <a:prstGeom prst="ellipse">
            <a:avLst/>
          </a:prstGeom>
          <a:solidFill>
            <a:srgbClr val="1BAF7A"/>
          </a:solidFill>
          <a:ln w="12700">
            <a:solidFill>
              <a:srgbClr val="1BAF7A"/>
            </a:solidFill>
            <a:prstDash val="solid"/>
          </a:ln>
        </p:spPr>
      </p:sp>
      <p:sp>
        <p:nvSpPr>
          <p:cNvPr id="19" name="Text 17"/>
          <p:cNvSpPr txBox="1"/>
          <p:nvPr/>
        </p:nvSpPr>
        <p:spPr>
          <a:xfrm>
            <a:off x="5431536" y="2724912"/>
            <a:ext cx="1271016" cy="310896"/>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Displaced</a:t>
            </a:r>
            <a:endParaRPr lang="en-US" sz="1500" dirty="0"/>
          </a:p>
        </p:txBody>
      </p:sp>
      <p:sp>
        <p:nvSpPr>
          <p:cNvPr id="20" name="Text 18"/>
          <p:cNvSpPr txBox="1"/>
          <p:nvPr/>
        </p:nvSpPr>
        <p:spPr>
          <a:xfrm>
            <a:off x="5102352" y="3145536"/>
            <a:ext cx="1554480" cy="475488"/>
          </a:xfrm>
          <a:prstGeom prst="rect">
            <a:avLst/>
          </a:prstGeom>
          <a:noFill/>
          <a:ln/>
        </p:spPr>
        <p:txBody>
          <a:bodyPr wrap="square" lIns="0" tIns="0" rIns="0" bIns="0" rtlCol="0" anchor="ctr"/>
          <a:lstStyle/>
          <a:p>
            <a:pPr indent="0" marL="0">
              <a:buNone/>
            </a:pPr>
            <a:r>
              <a:rPr lang="en-US" sz="1700" b="1" dirty="0">
                <a:solidFill>
                  <a:srgbClr val="0B0B0B"/>
                </a:solidFill>
                <a:latin typeface="Calibri" pitchFamily="34" charset="0"/>
                <a:ea typeface="Calibri" pitchFamily="34" charset="-122"/>
                <a:cs typeface="Calibri" pitchFamily="34" charset="-120"/>
              </a:rPr>
              <a:t>8.5B affected</a:t>
            </a:r>
            <a:endParaRPr lang="en-US" sz="1700" dirty="0"/>
          </a:p>
        </p:txBody>
      </p:sp>
      <p:sp>
        <p:nvSpPr>
          <p:cNvPr id="21" name="Shape 19"/>
          <p:cNvSpPr/>
          <p:nvPr/>
        </p:nvSpPr>
        <p:spPr>
          <a:xfrm>
            <a:off x="7123176" y="2578608"/>
            <a:ext cx="1956816" cy="1243584"/>
          </a:xfrm>
          <a:prstGeom prst="roundRect">
            <a:avLst>
              <a:gd name="adj" fmla="val 4412"/>
            </a:avLst>
          </a:prstGeom>
          <a:solidFill>
            <a:srgbClr val="FFFFFF"/>
          </a:solidFill>
          <a:ln w="12700">
            <a:solidFill>
              <a:srgbClr val="E3E2DE"/>
            </a:solidFill>
            <a:prstDash val="solid"/>
          </a:ln>
        </p:spPr>
      </p:sp>
      <p:sp>
        <p:nvSpPr>
          <p:cNvPr id="22" name="Shape 20"/>
          <p:cNvSpPr/>
          <p:nvPr/>
        </p:nvSpPr>
        <p:spPr>
          <a:xfrm>
            <a:off x="7324344" y="2761488"/>
            <a:ext cx="237744" cy="237744"/>
          </a:xfrm>
          <a:prstGeom prst="ellipse">
            <a:avLst/>
          </a:prstGeom>
          <a:solidFill>
            <a:srgbClr val="EDA100"/>
          </a:solidFill>
          <a:ln w="12700">
            <a:solidFill>
              <a:srgbClr val="EDA100"/>
            </a:solidFill>
            <a:prstDash val="solid"/>
          </a:ln>
        </p:spPr>
      </p:sp>
      <p:sp>
        <p:nvSpPr>
          <p:cNvPr id="23" name="Text 21"/>
          <p:cNvSpPr txBox="1"/>
          <p:nvPr/>
        </p:nvSpPr>
        <p:spPr>
          <a:xfrm>
            <a:off x="7653528" y="2724912"/>
            <a:ext cx="1271016" cy="310896"/>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Cost</a:t>
            </a:r>
            <a:endParaRPr lang="en-US" sz="1500" dirty="0"/>
          </a:p>
        </p:txBody>
      </p:sp>
      <p:sp>
        <p:nvSpPr>
          <p:cNvPr id="24" name="Text 22"/>
          <p:cNvSpPr txBox="1"/>
          <p:nvPr/>
        </p:nvSpPr>
        <p:spPr>
          <a:xfrm>
            <a:off x="7324344" y="3145536"/>
            <a:ext cx="1554480" cy="475488"/>
          </a:xfrm>
          <a:prstGeom prst="rect">
            <a:avLst/>
          </a:prstGeom>
          <a:noFill/>
          <a:ln/>
        </p:spPr>
        <p:txBody>
          <a:bodyPr wrap="square" lIns="0" tIns="0" rIns="0" bIns="0" rtlCol="0" anchor="ctr"/>
          <a:lstStyle/>
          <a:p>
            <a:pPr indent="0" marL="0">
              <a:buNone/>
            </a:pPr>
            <a:r>
              <a:rPr lang="en-US" sz="1700" b="1" dirty="0">
                <a:solidFill>
                  <a:srgbClr val="0B0B0B"/>
                </a:solidFill>
                <a:latin typeface="Calibri" pitchFamily="34" charset="0"/>
                <a:ea typeface="Calibri" pitchFamily="34" charset="-122"/>
                <a:cs typeface="Calibri" pitchFamily="34" charset="-120"/>
              </a:rPr>
              <a:t>$6.7T damage</a:t>
            </a:r>
            <a:endParaRPr lang="en-US" sz="1700" dirty="0"/>
          </a:p>
        </p:txBody>
      </p:sp>
      <p:sp>
        <p:nvSpPr>
          <p:cNvPr id="25" name="Text 23"/>
          <p:cNvSpPr txBox="1"/>
          <p:nvPr/>
        </p:nvSpPr>
        <p:spPr>
          <a:xfrm>
            <a:off x="457200" y="4485132"/>
            <a:ext cx="6172200" cy="329184"/>
          </a:xfrm>
          <a:prstGeom prst="rect">
            <a:avLst/>
          </a:prstGeom>
          <a:noFill/>
          <a:ln/>
        </p:spPr>
        <p:txBody>
          <a:bodyPr wrap="square" lIns="0" tIns="0" rIns="0" bIns="0" rtlCol="0" anchor="ctr"/>
          <a:lstStyle/>
          <a:p>
            <a:pPr indent="0" marL="0">
              <a:buNone/>
            </a:pPr>
            <a:r>
              <a:rPr lang="en-US" sz="1300" i="1" dirty="0">
                <a:solidFill>
                  <a:srgbClr val="52514E"/>
                </a:solidFill>
                <a:latin typeface="Calibri" pitchFamily="34" charset="0"/>
                <a:ea typeface="Calibri" pitchFamily="34" charset="-122"/>
                <a:cs typeface="Calibri" pitchFamily="34" charset="-120"/>
              </a:rPr>
              <a:t>Three sub-questions, one per member - so no task is split across the team.</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457200" y="237744"/>
            <a:ext cx="8229600" cy="585216"/>
          </a:xfrm>
          <a:prstGeom prst="rect">
            <a:avLst/>
          </a:prstGeom>
          <a:noFill/>
          <a:ln/>
        </p:spPr>
        <p:txBody>
          <a:bodyPr wrap="square" lIns="0" tIns="0" rIns="0" bIns="0" rtlCol="0" anchor="ctr"/>
          <a:lstStyle/>
          <a:p>
            <a:pPr indent="0" marL="0">
              <a:buNone/>
            </a:pPr>
            <a:r>
              <a:rPr lang="en-US" sz="2500" b="1" dirty="0">
                <a:solidFill>
                  <a:srgbClr val="0B0B0B"/>
                </a:solidFill>
                <a:latin typeface="Calibri" pitchFamily="34" charset="0"/>
                <a:ea typeface="Calibri" pitchFamily="34" charset="-122"/>
                <a:cs typeface="Calibri" pitchFamily="34" charset="-120"/>
              </a:rPr>
              <a:t>Four things to fix before any chart</a:t>
            </a:r>
            <a:endParaRPr lang="en-US" sz="2500" dirty="0"/>
          </a:p>
        </p:txBody>
      </p:sp>
      <p:sp>
        <p:nvSpPr>
          <p:cNvPr id="3" name="Shape 1"/>
          <p:cNvSpPr/>
          <p:nvPr/>
        </p:nvSpPr>
        <p:spPr>
          <a:xfrm>
            <a:off x="6812280" y="4485132"/>
            <a:ext cx="1874520" cy="310896"/>
          </a:xfrm>
          <a:prstGeom prst="roundRect">
            <a:avLst>
              <a:gd name="adj" fmla="val 50000"/>
            </a:avLst>
          </a:prstGeom>
          <a:solidFill>
            <a:srgbClr val="10243E"/>
          </a:solidFill>
          <a:ln w="12700">
            <a:solidFill>
              <a:srgbClr val="10243E"/>
            </a:solidFill>
            <a:prstDash val="solid"/>
          </a:ln>
        </p:spPr>
      </p:sp>
      <p:sp>
        <p:nvSpPr>
          <p:cNvPr id="4" name="Shape 2"/>
          <p:cNvSpPr/>
          <p:nvPr/>
        </p:nvSpPr>
        <p:spPr>
          <a:xfrm>
            <a:off x="6967728" y="4585716"/>
            <a:ext cx="118872" cy="118872"/>
          </a:xfrm>
          <a:prstGeom prst="ellipse">
            <a:avLst/>
          </a:prstGeom>
          <a:solidFill>
            <a:srgbClr val="2A78D6"/>
          </a:solidFill>
          <a:ln w="12700">
            <a:solidFill>
              <a:srgbClr val="2A78D6"/>
            </a:solidFill>
            <a:prstDash val="solid"/>
          </a:ln>
        </p:spPr>
      </p:sp>
      <p:sp>
        <p:nvSpPr>
          <p:cNvPr id="5" name="Text 3"/>
          <p:cNvSpPr txBox="1"/>
          <p:nvPr/>
        </p:nvSpPr>
        <p:spPr>
          <a:xfrm>
            <a:off x="7141464" y="4485132"/>
            <a:ext cx="1417320" cy="310896"/>
          </a:xfrm>
          <a:prstGeom prst="rect">
            <a:avLst/>
          </a:prstGeom>
          <a:noFill/>
          <a:ln/>
        </p:spPr>
        <p:txBody>
          <a:bodyPr wrap="square" lIns="0" tIns="0" rIns="0" bIns="0" rtlCol="0" anchor="ctr"/>
          <a:lstStyle/>
          <a:p>
            <a:pPr algn="l" indent="0" marL="0">
              <a:buNone/>
            </a:pPr>
            <a:r>
              <a:rPr lang="en-US" sz="1100" b="1" dirty="0">
                <a:solidFill>
                  <a:srgbClr val="FFFFFF"/>
                </a:solidFill>
                <a:latin typeface="Calibri" pitchFamily="34" charset="0"/>
                <a:ea typeface="Calibri" pitchFamily="34" charset="-122"/>
                <a:cs typeface="Calibri" pitchFamily="34" charset="-120"/>
              </a:rPr>
              <a:t>Lakshya Jain</a:t>
            </a:r>
            <a:endParaRPr lang="en-US" sz="1100" dirty="0"/>
          </a:p>
        </p:txBody>
      </p:sp>
      <p:sp>
        <p:nvSpPr>
          <p:cNvPr id="6" name="Shape 4"/>
          <p:cNvSpPr/>
          <p:nvPr/>
        </p:nvSpPr>
        <p:spPr>
          <a:xfrm>
            <a:off x="457200" y="1152144"/>
            <a:ext cx="310896" cy="310896"/>
          </a:xfrm>
          <a:prstGeom prst="ellipse">
            <a:avLst/>
          </a:prstGeom>
          <a:solidFill>
            <a:srgbClr val="2A78D6"/>
          </a:solidFill>
          <a:ln w="12700">
            <a:solidFill>
              <a:srgbClr val="2A78D6"/>
            </a:solidFill>
            <a:prstDash val="solid"/>
          </a:ln>
        </p:spPr>
      </p:sp>
      <p:sp>
        <p:nvSpPr>
          <p:cNvPr id="7" name="Text 5"/>
          <p:cNvSpPr txBox="1"/>
          <p:nvPr/>
        </p:nvSpPr>
        <p:spPr>
          <a:xfrm>
            <a:off x="457200" y="115214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896112" y="1115568"/>
            <a:ext cx="3886200" cy="292608"/>
          </a:xfrm>
          <a:prstGeom prst="rect">
            <a:avLst/>
          </a:prstGeom>
          <a:noFill/>
          <a:ln/>
        </p:spPr>
        <p:txBody>
          <a:bodyPr wrap="square" lIns="0" tIns="0" rIns="0" bIns="0" rtlCol="0" anchor="ctr"/>
          <a:lstStyle/>
          <a:p>
            <a:pPr indent="0" marL="0">
              <a:buNone/>
            </a:pPr>
            <a:r>
              <a:rPr lang="en-US" sz="1400" b="1" dirty="0">
                <a:solidFill>
                  <a:srgbClr val="0B0B0B"/>
                </a:solidFill>
                <a:latin typeface="Calibri" pitchFamily="34" charset="0"/>
                <a:ea typeface="Calibri" pitchFamily="34" charset="-122"/>
                <a:cs typeface="Calibri" pitchFamily="34" charset="-120"/>
              </a:rPr>
              <a:t>Semicolon-separated, comma decimals</a:t>
            </a:r>
            <a:endParaRPr lang="en-US" sz="1400" dirty="0"/>
          </a:p>
        </p:txBody>
      </p:sp>
      <p:sp>
        <p:nvSpPr>
          <p:cNvPr id="9" name="Text 7"/>
          <p:cNvSpPr txBox="1"/>
          <p:nvPr/>
        </p:nvSpPr>
        <p:spPr>
          <a:xfrm>
            <a:off x="896112" y="1399032"/>
            <a:ext cx="3886200" cy="402336"/>
          </a:xfrm>
          <a:prstGeom prst="rect">
            <a:avLst/>
          </a:prstGeom>
          <a:noFill/>
          <a:ln/>
        </p:spPr>
        <p:txBody>
          <a:bodyPr wrap="square" lIns="0" tIns="0" rIns="0" bIns="0" rtlCol="0" anchor="ctr"/>
          <a:lstStyle/>
          <a:p>
            <a:pPr indent="0" marL="0">
              <a:buNone/>
            </a:pPr>
            <a:r>
              <a:rPr lang="en-US" sz="1150" dirty="0">
                <a:solidFill>
                  <a:srgbClr val="52514E"/>
                </a:solidFill>
                <a:latin typeface="Calibri" pitchFamily="34" charset="0"/>
                <a:ea typeface="Calibri" pitchFamily="34" charset="-122"/>
                <a:cs typeface="Calibri" pitchFamily="34" charset="-120"/>
              </a:rPr>
              <a:t>read naively, every number arrives as text</a:t>
            </a:r>
            <a:endParaRPr lang="en-US" sz="1150" dirty="0"/>
          </a:p>
        </p:txBody>
      </p:sp>
      <p:sp>
        <p:nvSpPr>
          <p:cNvPr id="10" name="Shape 8"/>
          <p:cNvSpPr/>
          <p:nvPr/>
        </p:nvSpPr>
        <p:spPr>
          <a:xfrm>
            <a:off x="457200" y="1938528"/>
            <a:ext cx="310896" cy="310896"/>
          </a:xfrm>
          <a:prstGeom prst="ellipse">
            <a:avLst/>
          </a:prstGeom>
          <a:solidFill>
            <a:srgbClr val="2A78D6"/>
          </a:solidFill>
          <a:ln w="12700">
            <a:solidFill>
              <a:srgbClr val="2A78D6"/>
            </a:solidFill>
            <a:prstDash val="solid"/>
          </a:ln>
        </p:spPr>
      </p:sp>
      <p:sp>
        <p:nvSpPr>
          <p:cNvPr id="11" name="Text 9"/>
          <p:cNvSpPr txBox="1"/>
          <p:nvPr/>
        </p:nvSpPr>
        <p:spPr>
          <a:xfrm>
            <a:off x="457200" y="193852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896112" y="1901952"/>
            <a:ext cx="3886200" cy="292608"/>
          </a:xfrm>
          <a:prstGeom prst="rect">
            <a:avLst/>
          </a:prstGeom>
          <a:noFill/>
          <a:ln/>
        </p:spPr>
        <p:txBody>
          <a:bodyPr wrap="square" lIns="0" tIns="0" rIns="0" bIns="0" rtlCol="0" anchor="ctr"/>
          <a:lstStyle/>
          <a:p>
            <a:pPr indent="0" marL="0">
              <a:buNone/>
            </a:pPr>
            <a:r>
              <a:rPr lang="en-US" sz="1400" b="1" dirty="0">
                <a:solidFill>
                  <a:srgbClr val="0B0B0B"/>
                </a:solidFill>
                <a:latin typeface="Calibri" pitchFamily="34" charset="0"/>
                <a:ea typeface="Calibri" pitchFamily="34" charset="-122"/>
                <a:cs typeface="Calibri" pitchFamily="34" charset="-120"/>
              </a:rPr>
              <a:t>2023 is a part-year</a:t>
            </a:r>
            <a:endParaRPr lang="en-US" sz="1400" dirty="0"/>
          </a:p>
        </p:txBody>
      </p:sp>
      <p:sp>
        <p:nvSpPr>
          <p:cNvPr id="13" name="Text 11"/>
          <p:cNvSpPr txBox="1"/>
          <p:nvPr/>
        </p:nvSpPr>
        <p:spPr>
          <a:xfrm>
            <a:off x="896112" y="2185416"/>
            <a:ext cx="3886200" cy="402336"/>
          </a:xfrm>
          <a:prstGeom prst="rect">
            <a:avLst/>
          </a:prstGeom>
          <a:noFill/>
          <a:ln/>
        </p:spPr>
        <p:txBody>
          <a:bodyPr wrap="square" lIns="0" tIns="0" rIns="0" bIns="0" rtlCol="0" anchor="ctr"/>
          <a:lstStyle/>
          <a:p>
            <a:pPr indent="0" marL="0">
              <a:buNone/>
            </a:pPr>
            <a:r>
              <a:rPr lang="en-US" sz="1150" dirty="0">
                <a:solidFill>
                  <a:srgbClr val="52514E"/>
                </a:solidFill>
                <a:latin typeface="Calibri" pitchFamily="34" charset="0"/>
                <a:ea typeface="Calibri" pitchFamily="34" charset="-122"/>
                <a:cs typeface="Calibri" pitchFamily="34" charset="-120"/>
              </a:rPr>
              <a:t>51 rows dropped, or every trend fakes a collapse</a:t>
            </a:r>
            <a:endParaRPr lang="en-US" sz="1150" dirty="0"/>
          </a:p>
        </p:txBody>
      </p:sp>
      <p:sp>
        <p:nvSpPr>
          <p:cNvPr id="14" name="Shape 12"/>
          <p:cNvSpPr/>
          <p:nvPr/>
        </p:nvSpPr>
        <p:spPr>
          <a:xfrm>
            <a:off x="457200" y="2724912"/>
            <a:ext cx="310896" cy="310896"/>
          </a:xfrm>
          <a:prstGeom prst="ellipse">
            <a:avLst/>
          </a:prstGeom>
          <a:solidFill>
            <a:srgbClr val="2A78D6"/>
          </a:solidFill>
          <a:ln w="12700">
            <a:solidFill>
              <a:srgbClr val="2A78D6"/>
            </a:solidFill>
            <a:prstDash val="solid"/>
          </a:ln>
        </p:spPr>
      </p:sp>
      <p:sp>
        <p:nvSpPr>
          <p:cNvPr id="15" name="Text 13"/>
          <p:cNvSpPr txBox="1"/>
          <p:nvPr/>
        </p:nvSpPr>
        <p:spPr>
          <a:xfrm>
            <a:off x="457200" y="272491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4"/>
          <p:cNvSpPr txBox="1"/>
          <p:nvPr/>
        </p:nvSpPr>
        <p:spPr>
          <a:xfrm>
            <a:off x="896112" y="2688336"/>
            <a:ext cx="3886200" cy="292608"/>
          </a:xfrm>
          <a:prstGeom prst="rect">
            <a:avLst/>
          </a:prstGeom>
          <a:noFill/>
          <a:ln/>
        </p:spPr>
        <p:txBody>
          <a:bodyPr wrap="square" lIns="0" tIns="0" rIns="0" bIns="0" rtlCol="0" anchor="ctr"/>
          <a:lstStyle/>
          <a:p>
            <a:pPr indent="0" marL="0">
              <a:buNone/>
            </a:pPr>
            <a:r>
              <a:rPr lang="en-US" sz="1400" b="1" dirty="0">
                <a:solidFill>
                  <a:srgbClr val="0B0B0B"/>
                </a:solidFill>
                <a:latin typeface="Calibri" pitchFamily="34" charset="0"/>
                <a:ea typeface="Calibri" pitchFamily="34" charset="-122"/>
                <a:cs typeface="Calibri" pitchFamily="34" charset="-120"/>
              </a:rPr>
              <a:t>Trailing spaces in hazard labels</a:t>
            </a:r>
            <a:endParaRPr lang="en-US" sz="1400" dirty="0"/>
          </a:p>
        </p:txBody>
      </p:sp>
      <p:sp>
        <p:nvSpPr>
          <p:cNvPr id="17" name="Text 15"/>
          <p:cNvSpPr txBox="1"/>
          <p:nvPr/>
        </p:nvSpPr>
        <p:spPr>
          <a:xfrm>
            <a:off x="896112" y="2971800"/>
            <a:ext cx="3886200" cy="402336"/>
          </a:xfrm>
          <a:prstGeom prst="rect">
            <a:avLst/>
          </a:prstGeom>
          <a:noFill/>
          <a:ln/>
        </p:spPr>
        <p:txBody>
          <a:bodyPr wrap="square" lIns="0" tIns="0" rIns="0" bIns="0" rtlCol="0" anchor="ctr"/>
          <a:lstStyle/>
          <a:p>
            <a:pPr indent="0" marL="0">
              <a:buNone/>
            </a:pPr>
            <a:r>
              <a:rPr lang="en-US" sz="1150" dirty="0">
                <a:solidFill>
                  <a:srgbClr val="52514E"/>
                </a:solidFill>
                <a:latin typeface="Calibri" pitchFamily="34" charset="0"/>
                <a:ea typeface="Calibri" pitchFamily="34" charset="-122"/>
                <a:cs typeface="Calibri" pitchFamily="34" charset="-120"/>
              </a:rPr>
              <a:t>"Extreme temperature " split one category in two</a:t>
            </a:r>
            <a:endParaRPr lang="en-US" sz="1150" dirty="0"/>
          </a:p>
        </p:txBody>
      </p:sp>
      <p:sp>
        <p:nvSpPr>
          <p:cNvPr id="18" name="Shape 16"/>
          <p:cNvSpPr/>
          <p:nvPr/>
        </p:nvSpPr>
        <p:spPr>
          <a:xfrm>
            <a:off x="457200" y="3511296"/>
            <a:ext cx="310896" cy="310896"/>
          </a:xfrm>
          <a:prstGeom prst="ellipse">
            <a:avLst/>
          </a:prstGeom>
          <a:solidFill>
            <a:srgbClr val="2A78D6"/>
          </a:solidFill>
          <a:ln w="12700">
            <a:solidFill>
              <a:srgbClr val="2A78D6"/>
            </a:solidFill>
            <a:prstDash val="solid"/>
          </a:ln>
        </p:spPr>
      </p:sp>
      <p:sp>
        <p:nvSpPr>
          <p:cNvPr id="19" name="Text 17"/>
          <p:cNvSpPr txBox="1"/>
          <p:nvPr/>
        </p:nvSpPr>
        <p:spPr>
          <a:xfrm>
            <a:off x="457200" y="351129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0" name="Text 18"/>
          <p:cNvSpPr txBox="1"/>
          <p:nvPr/>
        </p:nvSpPr>
        <p:spPr>
          <a:xfrm>
            <a:off x="896112" y="3474720"/>
            <a:ext cx="3886200" cy="292608"/>
          </a:xfrm>
          <a:prstGeom prst="rect">
            <a:avLst/>
          </a:prstGeom>
          <a:noFill/>
          <a:ln/>
        </p:spPr>
        <p:txBody>
          <a:bodyPr wrap="square" lIns="0" tIns="0" rIns="0" bIns="0" rtlCol="0" anchor="ctr"/>
          <a:lstStyle/>
          <a:p>
            <a:pPr indent="0" marL="0">
              <a:buNone/>
            </a:pPr>
            <a:r>
              <a:rPr lang="en-US" sz="1400" b="1" dirty="0">
                <a:solidFill>
                  <a:srgbClr val="0B0B0B"/>
                </a:solidFill>
                <a:latin typeface="Calibri" pitchFamily="34" charset="0"/>
                <a:ea typeface="Calibri" pitchFamily="34" charset="-122"/>
                <a:cs typeface="Calibri" pitchFamily="34" charset="-120"/>
              </a:rPr>
              <a:t>Missing impacts kept as missing</a:t>
            </a:r>
            <a:endParaRPr lang="en-US" sz="1400" dirty="0"/>
          </a:p>
        </p:txBody>
      </p:sp>
      <p:sp>
        <p:nvSpPr>
          <p:cNvPr id="21" name="Text 19"/>
          <p:cNvSpPr txBox="1"/>
          <p:nvPr/>
        </p:nvSpPr>
        <p:spPr>
          <a:xfrm>
            <a:off x="896112" y="3758184"/>
            <a:ext cx="3886200" cy="402336"/>
          </a:xfrm>
          <a:prstGeom prst="rect">
            <a:avLst/>
          </a:prstGeom>
          <a:noFill/>
          <a:ln/>
        </p:spPr>
        <p:txBody>
          <a:bodyPr wrap="square" lIns="0" tIns="0" rIns="0" bIns="0" rtlCol="0" anchor="ctr"/>
          <a:lstStyle/>
          <a:p>
            <a:pPr indent="0" marL="0">
              <a:buNone/>
            </a:pPr>
            <a:r>
              <a:rPr lang="en-US" sz="1150" dirty="0">
                <a:solidFill>
                  <a:srgbClr val="52514E"/>
                </a:solidFill>
                <a:latin typeface="Calibri" pitchFamily="34" charset="0"/>
                <a:ea typeface="Calibri" pitchFamily="34" charset="-122"/>
                <a:cs typeface="Calibri" pitchFamily="34" charset="-120"/>
              </a:rPr>
              <a:t>zero-filling would flatter every historical decade</a:t>
            </a:r>
            <a:endParaRPr lang="en-US" sz="1150" dirty="0"/>
          </a:p>
        </p:txBody>
      </p:sp>
      <p:pic>
        <p:nvPicPr>
          <p:cNvPr id="22" name="Image 0" descr="C:\Users\kalpi\Downloads\DAS732_A1_Submission\images\Fig2.png">    </p:cNvPr>
          <p:cNvPicPr>
            <a:picLocks noChangeAspect="1"/>
          </p:cNvPicPr>
          <p:nvPr/>
        </p:nvPicPr>
        <p:blipFill>
          <a:blip r:embed="rId1"/>
          <a:stretch>
            <a:fillRect/>
          </a:stretch>
        </p:blipFill>
        <p:spPr>
          <a:xfrm>
            <a:off x="4956048" y="1494644"/>
            <a:ext cx="3730752" cy="1902751"/>
          </a:xfrm>
          <a:prstGeom prst="rect">
            <a:avLst/>
          </a:prstGeom>
        </p:spPr>
      </p:pic>
      <p:sp>
        <p:nvSpPr>
          <p:cNvPr id="23" name="Text 20"/>
          <p:cNvSpPr txBox="1"/>
          <p:nvPr/>
        </p:nvSpPr>
        <p:spPr>
          <a:xfrm>
            <a:off x="4956048" y="3913632"/>
            <a:ext cx="3730752" cy="274320"/>
          </a:xfrm>
          <a:prstGeom prst="rect">
            <a:avLst/>
          </a:prstGeom>
          <a:noFill/>
          <a:ln/>
        </p:spPr>
        <p:txBody>
          <a:bodyPr wrap="square" lIns="0" tIns="0" rIns="0" bIns="0" rtlCol="0" anchor="ctr"/>
          <a:lstStyle/>
          <a:p>
            <a:pPr algn="ctr" indent="0" marL="0">
              <a:buNone/>
            </a:pPr>
            <a:r>
              <a:rPr lang="en-US" sz="1100" b="1" dirty="0">
                <a:solidFill>
                  <a:srgbClr val="52514E"/>
                </a:solidFill>
                <a:latin typeface="Calibri" pitchFamily="34" charset="0"/>
                <a:ea typeface="Calibri" pitchFamily="34" charset="-122"/>
                <a:cs typeface="Calibri" pitchFamily="34" charset="-120"/>
              </a:rPr>
              <a:t>10,431 rows  -&gt;  10,380 rows  ·  15,015 events  ·  225 countries</a:t>
            </a:r>
            <a:endParaRPr lang="en-US" sz="1100" dirty="0"/>
          </a:p>
        </p:txBody>
      </p:sp>
      <p:sp>
        <p:nvSpPr>
          <p:cNvPr id="24" name="Text 21"/>
          <p:cNvSpPr txBox="1"/>
          <p:nvPr/>
        </p:nvSpPr>
        <p:spPr>
          <a:xfrm>
            <a:off x="457200" y="4485132"/>
            <a:ext cx="6172200" cy="329184"/>
          </a:xfrm>
          <a:prstGeom prst="rect">
            <a:avLst/>
          </a:prstGeom>
          <a:noFill/>
          <a:ln/>
        </p:spPr>
        <p:txBody>
          <a:bodyPr wrap="square" lIns="0" tIns="0" rIns="0" bIns="0" rtlCol="0" anchor="ctr"/>
          <a:lstStyle/>
          <a:p>
            <a:pPr indent="0" marL="0">
              <a:buNone/>
            </a:pPr>
            <a:r>
              <a:rPr lang="en-US" sz="1300" i="1" dirty="0">
                <a:solidFill>
                  <a:srgbClr val="52514E"/>
                </a:solidFill>
                <a:latin typeface="Calibri" pitchFamily="34" charset="0"/>
                <a:ea typeface="Calibri" pitchFamily="34" charset="-122"/>
                <a:cs typeface="Calibri" pitchFamily="34" charset="-120"/>
              </a:rPr>
              <a:t>One cleaning module feeds all 15 charts, so no two figures can disagree.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457200" y="237744"/>
            <a:ext cx="8229600" cy="585216"/>
          </a:xfrm>
          <a:prstGeom prst="rect">
            <a:avLst/>
          </a:prstGeom>
          <a:noFill/>
          <a:ln/>
        </p:spPr>
        <p:txBody>
          <a:bodyPr wrap="square" lIns="0" tIns="0" rIns="0" bIns="0" rtlCol="0" anchor="ctr"/>
          <a:lstStyle/>
          <a:p>
            <a:pPr indent="0" marL="0">
              <a:buNone/>
            </a:pPr>
            <a:r>
              <a:rPr lang="en-US" sz="2500" b="1" dirty="0">
                <a:solidFill>
                  <a:srgbClr val="0B0B0B"/>
                </a:solidFill>
                <a:latin typeface="Calibri" pitchFamily="34" charset="0"/>
                <a:ea typeface="Calibri" pitchFamily="34" charset="-122"/>
                <a:cs typeface="Calibri" pitchFamily="34" charset="-120"/>
              </a:rPr>
              <a:t>One question, three owned task sets, fifteen charts</a:t>
            </a:r>
            <a:endParaRPr lang="en-US" sz="2500" dirty="0"/>
          </a:p>
        </p:txBody>
      </p:sp>
      <p:sp>
        <p:nvSpPr>
          <p:cNvPr id="3" name="Shape 1"/>
          <p:cNvSpPr/>
          <p:nvPr/>
        </p:nvSpPr>
        <p:spPr>
          <a:xfrm>
            <a:off x="6812280" y="4485132"/>
            <a:ext cx="1874520" cy="310896"/>
          </a:xfrm>
          <a:prstGeom prst="roundRect">
            <a:avLst>
              <a:gd name="adj" fmla="val 50000"/>
            </a:avLst>
          </a:prstGeom>
          <a:solidFill>
            <a:srgbClr val="10243E"/>
          </a:solidFill>
          <a:ln w="12700">
            <a:solidFill>
              <a:srgbClr val="10243E"/>
            </a:solidFill>
            <a:prstDash val="solid"/>
          </a:ln>
        </p:spPr>
      </p:sp>
      <p:sp>
        <p:nvSpPr>
          <p:cNvPr id="4" name="Shape 2"/>
          <p:cNvSpPr/>
          <p:nvPr/>
        </p:nvSpPr>
        <p:spPr>
          <a:xfrm>
            <a:off x="6967728" y="4585716"/>
            <a:ext cx="118872" cy="118872"/>
          </a:xfrm>
          <a:prstGeom prst="ellipse">
            <a:avLst/>
          </a:prstGeom>
          <a:solidFill>
            <a:srgbClr val="52514E"/>
          </a:solidFill>
          <a:ln w="12700">
            <a:solidFill>
              <a:srgbClr val="52514E"/>
            </a:solidFill>
            <a:prstDash val="solid"/>
          </a:ln>
        </p:spPr>
      </p:sp>
      <p:sp>
        <p:nvSpPr>
          <p:cNvPr id="5" name="Text 3"/>
          <p:cNvSpPr txBox="1"/>
          <p:nvPr/>
        </p:nvSpPr>
        <p:spPr>
          <a:xfrm>
            <a:off x="7141464" y="4485132"/>
            <a:ext cx="1417320" cy="310896"/>
          </a:xfrm>
          <a:prstGeom prst="rect">
            <a:avLst/>
          </a:prstGeom>
          <a:noFill/>
          <a:ln/>
        </p:spPr>
        <p:txBody>
          <a:bodyPr wrap="square" lIns="0" tIns="0" rIns="0" bIns="0" rtlCol="0" anchor="ctr"/>
          <a:lstStyle/>
          <a:p>
            <a:pPr algn="l" indent="0" marL="0">
              <a:buNone/>
            </a:pPr>
            <a:r>
              <a:rPr lang="en-US" sz="1100" b="1" dirty="0">
                <a:solidFill>
                  <a:srgbClr val="FFFFFF"/>
                </a:solidFill>
                <a:latin typeface="Calibri" pitchFamily="34" charset="0"/>
                <a:ea typeface="Calibri" pitchFamily="34" charset="-122"/>
                <a:cs typeface="Calibri" pitchFamily="34" charset="-120"/>
              </a:rPr>
              <a:t>All three</a:t>
            </a:r>
            <a:endParaRPr lang="en-US" sz="1100" dirty="0"/>
          </a:p>
        </p:txBody>
      </p:sp>
      <p:pic>
        <p:nvPicPr>
          <p:cNvPr id="6" name="Image 0" descr="C:\Users\kalpi\Downloads\DAS732_A1_Submission\images\Fig1.png">    </p:cNvPr>
          <p:cNvPicPr>
            <a:picLocks noChangeAspect="1"/>
          </p:cNvPicPr>
          <p:nvPr/>
        </p:nvPicPr>
        <p:blipFill>
          <a:blip r:embed="rId1"/>
          <a:stretch>
            <a:fillRect/>
          </a:stretch>
        </p:blipFill>
        <p:spPr>
          <a:xfrm>
            <a:off x="1530739" y="932688"/>
            <a:ext cx="6082523" cy="352044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457200" y="201168"/>
            <a:ext cx="8229600" cy="310896"/>
          </a:xfrm>
          <a:prstGeom prst="rect">
            <a:avLst/>
          </a:prstGeom>
          <a:noFill/>
          <a:ln/>
        </p:spPr>
        <p:txBody>
          <a:bodyPr wrap="square" lIns="0" tIns="0" rIns="0" bIns="0" rtlCol="0" anchor="ctr"/>
          <a:lstStyle/>
          <a:p>
            <a:pPr indent="0" marL="0">
              <a:buNone/>
            </a:pPr>
            <a:r>
              <a:rPr lang="en-US" sz="1300" b="1" dirty="0">
                <a:solidFill>
                  <a:srgbClr val="0B0B0B"/>
                </a:solidFill>
                <a:latin typeface="Calibri" pitchFamily="34" charset="0"/>
                <a:ea typeface="Calibri" pitchFamily="34" charset="-122"/>
                <a:cs typeface="Calibri" pitchFamily="34" charset="-120"/>
              </a:rPr>
              <a:t>A1.2  Trend</a:t>
            </a:r>
            <a:pPr indent="0" marL="0">
              <a:buNone/>
            </a:pPr>
            <a:r>
              <a:rPr lang="en-US" sz="1300" dirty="0">
                <a:solidFill>
                  <a:srgbClr val="52514E"/>
                </a:solidFill>
                <a:latin typeface="Calibri" pitchFamily="34" charset="0"/>
                <a:ea typeface="Calibri" pitchFamily="34" charset="-122"/>
                <a:cs typeface="Calibri" pitchFamily="34" charset="-120"/>
              </a:rPr>
              <a:t>   The record explodes after 1970</a:t>
            </a:r>
            <a:endParaRPr lang="en-US" sz="1300" dirty="0"/>
          </a:p>
        </p:txBody>
      </p:sp>
      <p:sp>
        <p:nvSpPr>
          <p:cNvPr id="3" name="Shape 1"/>
          <p:cNvSpPr/>
          <p:nvPr/>
        </p:nvSpPr>
        <p:spPr>
          <a:xfrm>
            <a:off x="6812280" y="4485132"/>
            <a:ext cx="1874520" cy="310896"/>
          </a:xfrm>
          <a:prstGeom prst="roundRect">
            <a:avLst>
              <a:gd name="adj" fmla="val 50000"/>
            </a:avLst>
          </a:prstGeom>
          <a:solidFill>
            <a:srgbClr val="10243E"/>
          </a:solidFill>
          <a:ln w="12700">
            <a:solidFill>
              <a:srgbClr val="10243E"/>
            </a:solidFill>
            <a:prstDash val="solid"/>
          </a:ln>
        </p:spPr>
      </p:sp>
      <p:sp>
        <p:nvSpPr>
          <p:cNvPr id="4" name="Shape 2"/>
          <p:cNvSpPr/>
          <p:nvPr/>
        </p:nvSpPr>
        <p:spPr>
          <a:xfrm>
            <a:off x="6967728" y="4585716"/>
            <a:ext cx="118872" cy="118872"/>
          </a:xfrm>
          <a:prstGeom prst="ellipse">
            <a:avLst/>
          </a:prstGeom>
          <a:solidFill>
            <a:srgbClr val="2A78D6"/>
          </a:solidFill>
          <a:ln w="12700">
            <a:solidFill>
              <a:srgbClr val="2A78D6"/>
            </a:solidFill>
            <a:prstDash val="solid"/>
          </a:ln>
        </p:spPr>
      </p:sp>
      <p:sp>
        <p:nvSpPr>
          <p:cNvPr id="5" name="Text 3"/>
          <p:cNvSpPr txBox="1"/>
          <p:nvPr/>
        </p:nvSpPr>
        <p:spPr>
          <a:xfrm>
            <a:off x="7141464" y="4485132"/>
            <a:ext cx="1417320" cy="310896"/>
          </a:xfrm>
          <a:prstGeom prst="rect">
            <a:avLst/>
          </a:prstGeom>
          <a:noFill/>
          <a:ln/>
        </p:spPr>
        <p:txBody>
          <a:bodyPr wrap="square" lIns="0" tIns="0" rIns="0" bIns="0" rtlCol="0" anchor="ctr"/>
          <a:lstStyle/>
          <a:p>
            <a:pPr algn="l" indent="0" marL="0">
              <a:buNone/>
            </a:pPr>
            <a:r>
              <a:rPr lang="en-US" sz="1100" b="1" dirty="0">
                <a:solidFill>
                  <a:srgbClr val="FFFFFF"/>
                </a:solidFill>
                <a:latin typeface="Calibri" pitchFamily="34" charset="0"/>
                <a:ea typeface="Calibri" pitchFamily="34" charset="-122"/>
                <a:cs typeface="Calibri" pitchFamily="34" charset="-120"/>
              </a:rPr>
              <a:t>Lakshya Jain</a:t>
            </a:r>
            <a:endParaRPr lang="en-US" sz="1100" dirty="0"/>
          </a:p>
        </p:txBody>
      </p:sp>
      <p:pic>
        <p:nvPicPr>
          <p:cNvPr id="6" name="Image 0" descr="C:\Users\kalpi\Downloads\DAS732_A1_Submission\images\Fig4.png">    </p:cNvPr>
          <p:cNvPicPr>
            <a:picLocks noChangeAspect="1"/>
          </p:cNvPicPr>
          <p:nvPr/>
        </p:nvPicPr>
        <p:blipFill>
          <a:blip r:embed="rId1"/>
          <a:stretch>
            <a:fillRect/>
          </a:stretch>
        </p:blipFill>
        <p:spPr>
          <a:xfrm>
            <a:off x="1492956" y="603504"/>
            <a:ext cx="6158088" cy="3808476"/>
          </a:xfrm>
          <a:prstGeom prst="rect">
            <a:avLst/>
          </a:prstGeom>
        </p:spPr>
      </p:pic>
      <p:sp>
        <p:nvSpPr>
          <p:cNvPr id="7" name="Text 4"/>
          <p:cNvSpPr txBox="1"/>
          <p:nvPr/>
        </p:nvSpPr>
        <p:spPr>
          <a:xfrm>
            <a:off x="457200" y="4485132"/>
            <a:ext cx="6172200" cy="329184"/>
          </a:xfrm>
          <a:prstGeom prst="rect">
            <a:avLst/>
          </a:prstGeom>
          <a:noFill/>
          <a:ln/>
        </p:spPr>
        <p:txBody>
          <a:bodyPr wrap="square" lIns="0" tIns="0" rIns="0" bIns="0" rtlCol="0" anchor="ctr"/>
          <a:lstStyle/>
          <a:p>
            <a:pPr indent="0" marL="0">
              <a:buNone/>
            </a:pPr>
            <a:r>
              <a:rPr lang="en-US" sz="1300" i="1" dirty="0">
                <a:solidFill>
                  <a:srgbClr val="52514E"/>
                </a:solidFill>
                <a:latin typeface="Calibri" pitchFamily="34" charset="0"/>
                <a:ea typeface="Calibri" pitchFamily="34" charset="-122"/>
                <a:cs typeface="Calibri" pitchFamily="34" charset="-120"/>
              </a:rPr>
              <a:t>That shape is also exactly what a step-change in data collection looks like.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457200" y="201168"/>
            <a:ext cx="8229600" cy="310896"/>
          </a:xfrm>
          <a:prstGeom prst="rect">
            <a:avLst/>
          </a:prstGeom>
          <a:noFill/>
          <a:ln/>
        </p:spPr>
        <p:txBody>
          <a:bodyPr wrap="square" lIns="0" tIns="0" rIns="0" bIns="0" rtlCol="0" anchor="ctr"/>
          <a:lstStyle/>
          <a:p>
            <a:pPr indent="0" marL="0">
              <a:buNone/>
            </a:pPr>
            <a:r>
              <a:rPr lang="en-US" sz="1300" b="1" dirty="0">
                <a:solidFill>
                  <a:srgbClr val="0B0B0B"/>
                </a:solidFill>
                <a:latin typeface="Calibri" pitchFamily="34" charset="0"/>
                <a:ea typeface="Calibri" pitchFamily="34" charset="-122"/>
                <a:cs typeface="Calibri" pitchFamily="34" charset="-120"/>
              </a:rPr>
              <a:t>A1.3  Identify</a:t>
            </a:r>
            <a:pPr indent="0" marL="0">
              <a:buNone/>
            </a:pPr>
            <a:r>
              <a:rPr lang="en-US" sz="1300" dirty="0">
                <a:solidFill>
                  <a:srgbClr val="52514E"/>
                </a:solidFill>
                <a:latin typeface="Calibri" pitchFamily="34" charset="0"/>
                <a:ea typeface="Calibri" pitchFamily="34" charset="-122"/>
                <a:cs typeface="Calibri" pitchFamily="34" charset="-120"/>
              </a:rPr>
              <a:t>   ...but it is partly a count of reporting</a:t>
            </a:r>
            <a:endParaRPr lang="en-US" sz="1300" dirty="0"/>
          </a:p>
        </p:txBody>
      </p:sp>
      <p:sp>
        <p:nvSpPr>
          <p:cNvPr id="3" name="Shape 1"/>
          <p:cNvSpPr/>
          <p:nvPr/>
        </p:nvSpPr>
        <p:spPr>
          <a:xfrm>
            <a:off x="6812280" y="4485132"/>
            <a:ext cx="1874520" cy="310896"/>
          </a:xfrm>
          <a:prstGeom prst="roundRect">
            <a:avLst>
              <a:gd name="adj" fmla="val 50000"/>
            </a:avLst>
          </a:prstGeom>
          <a:solidFill>
            <a:srgbClr val="10243E"/>
          </a:solidFill>
          <a:ln w="12700">
            <a:solidFill>
              <a:srgbClr val="10243E"/>
            </a:solidFill>
            <a:prstDash val="solid"/>
          </a:ln>
        </p:spPr>
      </p:sp>
      <p:sp>
        <p:nvSpPr>
          <p:cNvPr id="4" name="Shape 2"/>
          <p:cNvSpPr/>
          <p:nvPr/>
        </p:nvSpPr>
        <p:spPr>
          <a:xfrm>
            <a:off x="6967728" y="4585716"/>
            <a:ext cx="118872" cy="118872"/>
          </a:xfrm>
          <a:prstGeom prst="ellipse">
            <a:avLst/>
          </a:prstGeom>
          <a:solidFill>
            <a:srgbClr val="2A78D6"/>
          </a:solidFill>
          <a:ln w="12700">
            <a:solidFill>
              <a:srgbClr val="2A78D6"/>
            </a:solidFill>
            <a:prstDash val="solid"/>
          </a:ln>
        </p:spPr>
      </p:sp>
      <p:sp>
        <p:nvSpPr>
          <p:cNvPr id="5" name="Text 3"/>
          <p:cNvSpPr txBox="1"/>
          <p:nvPr/>
        </p:nvSpPr>
        <p:spPr>
          <a:xfrm>
            <a:off x="7141464" y="4485132"/>
            <a:ext cx="1417320" cy="310896"/>
          </a:xfrm>
          <a:prstGeom prst="rect">
            <a:avLst/>
          </a:prstGeom>
          <a:noFill/>
          <a:ln/>
        </p:spPr>
        <p:txBody>
          <a:bodyPr wrap="square" lIns="0" tIns="0" rIns="0" bIns="0" rtlCol="0" anchor="ctr"/>
          <a:lstStyle/>
          <a:p>
            <a:pPr algn="l" indent="0" marL="0">
              <a:buNone/>
            </a:pPr>
            <a:r>
              <a:rPr lang="en-US" sz="1100" b="1" dirty="0">
                <a:solidFill>
                  <a:srgbClr val="FFFFFF"/>
                </a:solidFill>
                <a:latin typeface="Calibri" pitchFamily="34" charset="0"/>
                <a:ea typeface="Calibri" pitchFamily="34" charset="-122"/>
                <a:cs typeface="Calibri" pitchFamily="34" charset="-120"/>
              </a:rPr>
              <a:t>Lakshya Jain</a:t>
            </a:r>
            <a:endParaRPr lang="en-US" sz="1100" dirty="0"/>
          </a:p>
        </p:txBody>
      </p:sp>
      <p:pic>
        <p:nvPicPr>
          <p:cNvPr id="6" name="Image 0" descr="C:\Users\kalpi\Downloads\DAS732_A1_Submission\images\Fig5.png">    </p:cNvPr>
          <p:cNvPicPr>
            <a:picLocks noChangeAspect="1"/>
          </p:cNvPicPr>
          <p:nvPr/>
        </p:nvPicPr>
        <p:blipFill>
          <a:blip r:embed="rId1"/>
          <a:stretch>
            <a:fillRect/>
          </a:stretch>
        </p:blipFill>
        <p:spPr>
          <a:xfrm>
            <a:off x="673276" y="603504"/>
            <a:ext cx="7797448" cy="3808476"/>
          </a:xfrm>
          <a:prstGeom prst="rect">
            <a:avLst/>
          </a:prstGeom>
        </p:spPr>
      </p:pic>
      <p:sp>
        <p:nvSpPr>
          <p:cNvPr id="7" name="Text 4"/>
          <p:cNvSpPr txBox="1"/>
          <p:nvPr/>
        </p:nvSpPr>
        <p:spPr>
          <a:xfrm>
            <a:off x="457200" y="4485132"/>
            <a:ext cx="6172200" cy="329184"/>
          </a:xfrm>
          <a:prstGeom prst="rect">
            <a:avLst/>
          </a:prstGeom>
          <a:noFill/>
          <a:ln/>
        </p:spPr>
        <p:txBody>
          <a:bodyPr wrap="square" lIns="0" tIns="0" rIns="0" bIns="0" rtlCol="0" anchor="ctr"/>
          <a:lstStyle/>
          <a:p>
            <a:pPr indent="0" marL="0">
              <a:buNone/>
            </a:pPr>
            <a:r>
              <a:rPr lang="en-US" sz="1300" i="1" dirty="0">
                <a:solidFill>
                  <a:srgbClr val="52514E"/>
                </a:solidFill>
                <a:latin typeface="Calibri" pitchFamily="34" charset="0"/>
                <a:ea typeface="Calibri" pitchFamily="34" charset="-122"/>
                <a:cs typeface="Calibri" pitchFamily="34" charset="-120"/>
              </a:rPr>
              <a:t>91% of the record sits in 43% of the years. So we use rates, not counts, from here on.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457200" y="201168"/>
            <a:ext cx="8229600" cy="310896"/>
          </a:xfrm>
          <a:prstGeom prst="rect">
            <a:avLst/>
          </a:prstGeom>
          <a:noFill/>
          <a:ln/>
        </p:spPr>
        <p:txBody>
          <a:bodyPr wrap="square" lIns="0" tIns="0" rIns="0" bIns="0" rtlCol="0" anchor="ctr"/>
          <a:lstStyle/>
          <a:p>
            <a:pPr indent="0" marL="0">
              <a:buNone/>
            </a:pPr>
            <a:r>
              <a:rPr lang="en-US" sz="1300" b="1" dirty="0">
                <a:solidFill>
                  <a:srgbClr val="0B0B0B"/>
                </a:solidFill>
                <a:latin typeface="Calibri" pitchFamily="34" charset="0"/>
                <a:ea typeface="Calibri" pitchFamily="34" charset="-122"/>
                <a:cs typeface="Calibri" pitchFamily="34" charset="-120"/>
              </a:rPr>
              <a:t>A1.4  Compare</a:t>
            </a:r>
            <a:pPr indent="0" marL="0">
              <a:buNone/>
            </a:pPr>
            <a:r>
              <a:rPr lang="en-US" sz="1300" dirty="0">
                <a:solidFill>
                  <a:srgbClr val="52514E"/>
                </a:solidFill>
                <a:latin typeface="Calibri" pitchFamily="34" charset="0"/>
                <a:ea typeface="Calibri" pitchFamily="34" charset="-122"/>
                <a:cs typeface="Calibri" pitchFamily="34" charset="-120"/>
              </a:rPr>
              <a:t>   Deaths per recorded event fell 99.4%</a:t>
            </a:r>
            <a:endParaRPr lang="en-US" sz="1300" dirty="0"/>
          </a:p>
        </p:txBody>
      </p:sp>
      <p:sp>
        <p:nvSpPr>
          <p:cNvPr id="3" name="Shape 1"/>
          <p:cNvSpPr/>
          <p:nvPr/>
        </p:nvSpPr>
        <p:spPr>
          <a:xfrm>
            <a:off x="6812280" y="4485132"/>
            <a:ext cx="1874520" cy="310896"/>
          </a:xfrm>
          <a:prstGeom prst="roundRect">
            <a:avLst>
              <a:gd name="adj" fmla="val 50000"/>
            </a:avLst>
          </a:prstGeom>
          <a:solidFill>
            <a:srgbClr val="10243E"/>
          </a:solidFill>
          <a:ln w="12700">
            <a:solidFill>
              <a:srgbClr val="10243E"/>
            </a:solidFill>
            <a:prstDash val="solid"/>
          </a:ln>
        </p:spPr>
      </p:sp>
      <p:sp>
        <p:nvSpPr>
          <p:cNvPr id="4" name="Shape 2"/>
          <p:cNvSpPr/>
          <p:nvPr/>
        </p:nvSpPr>
        <p:spPr>
          <a:xfrm>
            <a:off x="6967728" y="4585716"/>
            <a:ext cx="118872" cy="118872"/>
          </a:xfrm>
          <a:prstGeom prst="ellipse">
            <a:avLst/>
          </a:prstGeom>
          <a:solidFill>
            <a:srgbClr val="2A78D6"/>
          </a:solidFill>
          <a:ln w="12700">
            <a:solidFill>
              <a:srgbClr val="2A78D6"/>
            </a:solidFill>
            <a:prstDash val="solid"/>
          </a:ln>
        </p:spPr>
      </p:sp>
      <p:sp>
        <p:nvSpPr>
          <p:cNvPr id="5" name="Text 3"/>
          <p:cNvSpPr txBox="1"/>
          <p:nvPr/>
        </p:nvSpPr>
        <p:spPr>
          <a:xfrm>
            <a:off x="7141464" y="4485132"/>
            <a:ext cx="1417320" cy="310896"/>
          </a:xfrm>
          <a:prstGeom prst="rect">
            <a:avLst/>
          </a:prstGeom>
          <a:noFill/>
          <a:ln/>
        </p:spPr>
        <p:txBody>
          <a:bodyPr wrap="square" lIns="0" tIns="0" rIns="0" bIns="0" rtlCol="0" anchor="ctr"/>
          <a:lstStyle/>
          <a:p>
            <a:pPr algn="l" indent="0" marL="0">
              <a:buNone/>
            </a:pPr>
            <a:r>
              <a:rPr lang="en-US" sz="1100" b="1" dirty="0">
                <a:solidFill>
                  <a:srgbClr val="FFFFFF"/>
                </a:solidFill>
                <a:latin typeface="Calibri" pitchFamily="34" charset="0"/>
                <a:ea typeface="Calibri" pitchFamily="34" charset="-122"/>
                <a:cs typeface="Calibri" pitchFamily="34" charset="-120"/>
              </a:rPr>
              <a:t>Lakshya Jain</a:t>
            </a:r>
            <a:endParaRPr lang="en-US" sz="1100" dirty="0"/>
          </a:p>
        </p:txBody>
      </p:sp>
      <p:pic>
        <p:nvPicPr>
          <p:cNvPr id="6" name="Image 0" descr="C:\Users\kalpi\Downloads\DAS732_A1_Submission\images\Fig6.png">    </p:cNvPr>
          <p:cNvPicPr>
            <a:picLocks noChangeAspect="1"/>
          </p:cNvPicPr>
          <p:nvPr/>
        </p:nvPicPr>
        <p:blipFill>
          <a:blip r:embed="rId1"/>
          <a:stretch>
            <a:fillRect/>
          </a:stretch>
        </p:blipFill>
        <p:spPr>
          <a:xfrm>
            <a:off x="2041553" y="603504"/>
            <a:ext cx="5060893" cy="3808476"/>
          </a:xfrm>
          <a:prstGeom prst="rect">
            <a:avLst/>
          </a:prstGeom>
        </p:spPr>
      </p:pic>
      <p:sp>
        <p:nvSpPr>
          <p:cNvPr id="7" name="Text 4"/>
          <p:cNvSpPr txBox="1"/>
          <p:nvPr/>
        </p:nvSpPr>
        <p:spPr>
          <a:xfrm>
            <a:off x="457200" y="4485132"/>
            <a:ext cx="6172200" cy="329184"/>
          </a:xfrm>
          <a:prstGeom prst="rect">
            <a:avLst/>
          </a:prstGeom>
          <a:noFill/>
          <a:ln/>
        </p:spPr>
        <p:txBody>
          <a:bodyPr wrap="square" lIns="0" tIns="0" rIns="0" bIns="0" rtlCol="0" anchor="ctr"/>
          <a:lstStyle/>
          <a:p>
            <a:pPr indent="0" marL="0">
              <a:buNone/>
            </a:pPr>
            <a:r>
              <a:rPr lang="en-US" sz="1300" i="1" dirty="0">
                <a:solidFill>
                  <a:srgbClr val="52514E"/>
                </a:solidFill>
                <a:latin typeface="Calibri" pitchFamily="34" charset="0"/>
                <a:ea typeface="Calibri" pitchFamily="34" charset="-122"/>
                <a:cs typeface="Calibri" pitchFamily="34" charset="-120"/>
              </a:rPr>
              <a:t>Two panels, never a twin axis - a twin axis lets the author pick the crossing point.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457200" y="201168"/>
            <a:ext cx="8229600" cy="310896"/>
          </a:xfrm>
          <a:prstGeom prst="rect">
            <a:avLst/>
          </a:prstGeom>
          <a:noFill/>
          <a:ln/>
        </p:spPr>
        <p:txBody>
          <a:bodyPr wrap="square" lIns="0" tIns="0" rIns="0" bIns="0" rtlCol="0" anchor="ctr"/>
          <a:lstStyle/>
          <a:p>
            <a:pPr indent="0" marL="0">
              <a:buNone/>
            </a:pPr>
            <a:r>
              <a:rPr lang="en-US" sz="1300" b="1" dirty="0">
                <a:solidFill>
                  <a:srgbClr val="0B0B0B"/>
                </a:solidFill>
                <a:latin typeface="Calibri" pitchFamily="34" charset="0"/>
                <a:ea typeface="Calibri" pitchFamily="34" charset="-122"/>
                <a:cs typeface="Calibri" pitchFamily="34" charset="-120"/>
              </a:rPr>
              <a:t>A1.5  Validate</a:t>
            </a:r>
            <a:pPr indent="0" marL="0">
              <a:buNone/>
            </a:pPr>
            <a:r>
              <a:rPr lang="en-US" sz="1300" dirty="0">
                <a:solidFill>
                  <a:srgbClr val="52514E"/>
                </a:solidFill>
                <a:latin typeface="Calibri" pitchFamily="34" charset="0"/>
                <a:ea typeface="Calibri" pitchFamily="34" charset="-122"/>
                <a:cs typeface="Calibri" pitchFamily="34" charset="-120"/>
              </a:rPr>
              <a:t>   Then we tried to break our own finding</a:t>
            </a:r>
            <a:endParaRPr lang="en-US" sz="1300" dirty="0"/>
          </a:p>
        </p:txBody>
      </p:sp>
      <p:sp>
        <p:nvSpPr>
          <p:cNvPr id="3" name="Shape 1"/>
          <p:cNvSpPr/>
          <p:nvPr/>
        </p:nvSpPr>
        <p:spPr>
          <a:xfrm>
            <a:off x="6812280" y="4485132"/>
            <a:ext cx="1874520" cy="310896"/>
          </a:xfrm>
          <a:prstGeom prst="roundRect">
            <a:avLst>
              <a:gd name="adj" fmla="val 50000"/>
            </a:avLst>
          </a:prstGeom>
          <a:solidFill>
            <a:srgbClr val="10243E"/>
          </a:solidFill>
          <a:ln w="12700">
            <a:solidFill>
              <a:srgbClr val="10243E"/>
            </a:solidFill>
            <a:prstDash val="solid"/>
          </a:ln>
        </p:spPr>
      </p:sp>
      <p:sp>
        <p:nvSpPr>
          <p:cNvPr id="4" name="Shape 2"/>
          <p:cNvSpPr/>
          <p:nvPr/>
        </p:nvSpPr>
        <p:spPr>
          <a:xfrm>
            <a:off x="6967728" y="4585716"/>
            <a:ext cx="118872" cy="118872"/>
          </a:xfrm>
          <a:prstGeom prst="ellipse">
            <a:avLst/>
          </a:prstGeom>
          <a:solidFill>
            <a:srgbClr val="2A78D6"/>
          </a:solidFill>
          <a:ln w="12700">
            <a:solidFill>
              <a:srgbClr val="2A78D6"/>
            </a:solidFill>
            <a:prstDash val="solid"/>
          </a:ln>
        </p:spPr>
      </p:sp>
      <p:sp>
        <p:nvSpPr>
          <p:cNvPr id="5" name="Text 3"/>
          <p:cNvSpPr txBox="1"/>
          <p:nvPr/>
        </p:nvSpPr>
        <p:spPr>
          <a:xfrm>
            <a:off x="7141464" y="4485132"/>
            <a:ext cx="1417320" cy="310896"/>
          </a:xfrm>
          <a:prstGeom prst="rect">
            <a:avLst/>
          </a:prstGeom>
          <a:noFill/>
          <a:ln/>
        </p:spPr>
        <p:txBody>
          <a:bodyPr wrap="square" lIns="0" tIns="0" rIns="0" bIns="0" rtlCol="0" anchor="ctr"/>
          <a:lstStyle/>
          <a:p>
            <a:pPr algn="l" indent="0" marL="0">
              <a:buNone/>
            </a:pPr>
            <a:r>
              <a:rPr lang="en-US" sz="1100" b="1" dirty="0">
                <a:solidFill>
                  <a:srgbClr val="FFFFFF"/>
                </a:solidFill>
                <a:latin typeface="Calibri" pitchFamily="34" charset="0"/>
                <a:ea typeface="Calibri" pitchFamily="34" charset="-122"/>
                <a:cs typeface="Calibri" pitchFamily="34" charset="-120"/>
              </a:rPr>
              <a:t>Lakshya Jain</a:t>
            </a:r>
            <a:endParaRPr lang="en-US" sz="1100" dirty="0"/>
          </a:p>
        </p:txBody>
      </p:sp>
      <p:pic>
        <p:nvPicPr>
          <p:cNvPr id="6" name="Image 0" descr="C:\Users\kalpi\Downloads\DAS732_A1_Submission\images\Fig7.png">    </p:cNvPr>
          <p:cNvPicPr>
            <a:picLocks noChangeAspect="1"/>
          </p:cNvPicPr>
          <p:nvPr/>
        </p:nvPicPr>
        <p:blipFill>
          <a:blip r:embed="rId1"/>
          <a:stretch>
            <a:fillRect/>
          </a:stretch>
        </p:blipFill>
        <p:spPr>
          <a:xfrm>
            <a:off x="1121730" y="603504"/>
            <a:ext cx="6900539" cy="3808476"/>
          </a:xfrm>
          <a:prstGeom prst="rect">
            <a:avLst/>
          </a:prstGeom>
        </p:spPr>
      </p:pic>
      <p:sp>
        <p:nvSpPr>
          <p:cNvPr id="7" name="Text 4"/>
          <p:cNvSpPr txBox="1"/>
          <p:nvPr/>
        </p:nvSpPr>
        <p:spPr>
          <a:xfrm>
            <a:off x="457200" y="4485132"/>
            <a:ext cx="6172200" cy="329184"/>
          </a:xfrm>
          <a:prstGeom prst="rect">
            <a:avLst/>
          </a:prstGeom>
          <a:noFill/>
          <a:ln/>
        </p:spPr>
        <p:txBody>
          <a:bodyPr wrap="square" lIns="0" tIns="0" rIns="0" bIns="0" rtlCol="0" anchor="ctr"/>
          <a:lstStyle/>
          <a:p>
            <a:pPr indent="0" marL="0">
              <a:buNone/>
            </a:pPr>
            <a:r>
              <a:rPr lang="en-US" sz="1300" i="1" dirty="0">
                <a:solidFill>
                  <a:srgbClr val="52514E"/>
                </a:solidFill>
                <a:latin typeface="Calibri" pitchFamily="34" charset="0"/>
                <a:ea typeface="Calibri" pitchFamily="34" charset="-122"/>
                <a:cs typeface="Calibri" pitchFamily="34" charset="-120"/>
              </a:rPr>
              <a:t>Strip each decade's three deadliest records and the decline vanishes entirely.</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457200" y="237744"/>
            <a:ext cx="8229600" cy="585216"/>
          </a:xfrm>
          <a:prstGeom prst="rect">
            <a:avLst/>
          </a:prstGeom>
          <a:noFill/>
          <a:ln/>
        </p:spPr>
        <p:txBody>
          <a:bodyPr wrap="square" lIns="0" tIns="0" rIns="0" bIns="0" rtlCol="0" anchor="ctr"/>
          <a:lstStyle/>
          <a:p>
            <a:pPr indent="0" marL="0">
              <a:buNone/>
            </a:pPr>
            <a:r>
              <a:rPr lang="en-US" sz="2500" b="1" dirty="0">
                <a:solidFill>
                  <a:srgbClr val="0B0B0B"/>
                </a:solidFill>
                <a:latin typeface="Calibri" pitchFamily="34" charset="0"/>
                <a:ea typeface="Calibri" pitchFamily="34" charset="-122"/>
                <a:cs typeface="Calibri" pitchFamily="34" charset="-120"/>
              </a:rPr>
              <a:t>Disasters are global. Death is not.</a:t>
            </a:r>
            <a:endParaRPr lang="en-US" sz="2500" dirty="0"/>
          </a:p>
        </p:txBody>
      </p:sp>
      <p:sp>
        <p:nvSpPr>
          <p:cNvPr id="3" name="Shape 1"/>
          <p:cNvSpPr/>
          <p:nvPr/>
        </p:nvSpPr>
        <p:spPr>
          <a:xfrm>
            <a:off x="6812280" y="4485132"/>
            <a:ext cx="1874520" cy="310896"/>
          </a:xfrm>
          <a:prstGeom prst="roundRect">
            <a:avLst>
              <a:gd name="adj" fmla="val 50000"/>
            </a:avLst>
          </a:prstGeom>
          <a:solidFill>
            <a:srgbClr val="10243E"/>
          </a:solidFill>
          <a:ln w="12700">
            <a:solidFill>
              <a:srgbClr val="10243E"/>
            </a:solidFill>
            <a:prstDash val="solid"/>
          </a:ln>
        </p:spPr>
      </p:sp>
      <p:sp>
        <p:nvSpPr>
          <p:cNvPr id="4" name="Shape 2"/>
          <p:cNvSpPr/>
          <p:nvPr/>
        </p:nvSpPr>
        <p:spPr>
          <a:xfrm>
            <a:off x="6967728" y="4585716"/>
            <a:ext cx="118872" cy="118872"/>
          </a:xfrm>
          <a:prstGeom prst="ellipse">
            <a:avLst/>
          </a:prstGeom>
          <a:solidFill>
            <a:srgbClr val="EB6834"/>
          </a:solidFill>
          <a:ln w="12700">
            <a:solidFill>
              <a:srgbClr val="EB6834"/>
            </a:solidFill>
            <a:prstDash val="solid"/>
          </a:ln>
        </p:spPr>
      </p:sp>
      <p:sp>
        <p:nvSpPr>
          <p:cNvPr id="5" name="Text 3"/>
          <p:cNvSpPr txBox="1"/>
          <p:nvPr/>
        </p:nvSpPr>
        <p:spPr>
          <a:xfrm>
            <a:off x="7141464" y="4485132"/>
            <a:ext cx="1417320" cy="310896"/>
          </a:xfrm>
          <a:prstGeom prst="rect">
            <a:avLst/>
          </a:prstGeom>
          <a:noFill/>
          <a:ln/>
        </p:spPr>
        <p:txBody>
          <a:bodyPr wrap="square" lIns="0" tIns="0" rIns="0" bIns="0" rtlCol="0" anchor="ctr"/>
          <a:lstStyle/>
          <a:p>
            <a:pPr algn="l" indent="0" marL="0">
              <a:buNone/>
            </a:pPr>
            <a:r>
              <a:rPr lang="en-US" sz="1100" b="1" dirty="0">
                <a:solidFill>
                  <a:srgbClr val="FFFFFF"/>
                </a:solidFill>
                <a:latin typeface="Calibri" pitchFamily="34" charset="0"/>
                <a:ea typeface="Calibri" pitchFamily="34" charset="-122"/>
                <a:cs typeface="Calibri" pitchFamily="34" charset="-120"/>
              </a:rPr>
              <a:t>Arnav Jain</a:t>
            </a:r>
            <a:endParaRPr lang="en-US" sz="1100" dirty="0"/>
          </a:p>
        </p:txBody>
      </p:sp>
      <p:pic>
        <p:nvPicPr>
          <p:cNvPr id="6" name="Image 0" descr="C:\Users\kalpi\Downloads\DAS732_A1_Submission\images\Fig8.png">    </p:cNvPr>
          <p:cNvPicPr>
            <a:picLocks noChangeAspect="1"/>
          </p:cNvPicPr>
          <p:nvPr/>
        </p:nvPicPr>
        <p:blipFill>
          <a:blip r:embed="rId1"/>
          <a:stretch>
            <a:fillRect/>
          </a:stretch>
        </p:blipFill>
        <p:spPr>
          <a:xfrm>
            <a:off x="201168" y="1004011"/>
            <a:ext cx="4334256" cy="2600554"/>
          </a:xfrm>
          <a:prstGeom prst="rect">
            <a:avLst/>
          </a:prstGeom>
        </p:spPr>
      </p:pic>
      <p:pic>
        <p:nvPicPr>
          <p:cNvPr id="7" name="Image 1" descr="C:\Users\kalpi\Downloads\DAS732_A1_Submission\images\Fig9.png">    </p:cNvPr>
          <p:cNvPicPr>
            <a:picLocks noChangeAspect="1"/>
          </p:cNvPicPr>
          <p:nvPr/>
        </p:nvPicPr>
        <p:blipFill>
          <a:blip r:embed="rId2"/>
          <a:stretch>
            <a:fillRect/>
          </a:stretch>
        </p:blipFill>
        <p:spPr>
          <a:xfrm>
            <a:off x="4608576" y="1004011"/>
            <a:ext cx="4334256" cy="2600554"/>
          </a:xfrm>
          <a:prstGeom prst="rect">
            <a:avLst/>
          </a:prstGeom>
        </p:spPr>
      </p:pic>
      <p:sp>
        <p:nvSpPr>
          <p:cNvPr id="8" name="Text 4"/>
          <p:cNvSpPr txBox="1"/>
          <p:nvPr/>
        </p:nvSpPr>
        <p:spPr>
          <a:xfrm>
            <a:off x="201168" y="3730752"/>
            <a:ext cx="4334256" cy="274320"/>
          </a:xfrm>
          <a:prstGeom prst="rect">
            <a:avLst/>
          </a:prstGeom>
          <a:noFill/>
          <a:ln/>
        </p:spPr>
        <p:txBody>
          <a:bodyPr wrap="square" lIns="0" tIns="0" rIns="0" bIns="0" rtlCol="0" anchor="ctr"/>
          <a:lstStyle/>
          <a:p>
            <a:pPr algn="ctr" indent="0" marL="0">
              <a:buNone/>
            </a:pPr>
            <a:r>
              <a:rPr lang="en-US" sz="1350" b="1" dirty="0">
                <a:solidFill>
                  <a:srgbClr val="0B0B0B"/>
                </a:solidFill>
                <a:latin typeface="Calibri" pitchFamily="34" charset="0"/>
                <a:ea typeface="Calibri" pitchFamily="34" charset="-122"/>
                <a:cs typeface="Calibri" pitchFamily="34" charset="-120"/>
              </a:rPr>
              <a:t>All 225 countries appear</a:t>
            </a:r>
            <a:endParaRPr lang="en-US" sz="1350" dirty="0"/>
          </a:p>
        </p:txBody>
      </p:sp>
      <p:sp>
        <p:nvSpPr>
          <p:cNvPr id="9" name="Text 5"/>
          <p:cNvSpPr txBox="1"/>
          <p:nvPr/>
        </p:nvSpPr>
        <p:spPr>
          <a:xfrm>
            <a:off x="4608576" y="3730752"/>
            <a:ext cx="4334256" cy="274320"/>
          </a:xfrm>
          <a:prstGeom prst="rect">
            <a:avLst/>
          </a:prstGeom>
          <a:noFill/>
          <a:ln/>
        </p:spPr>
        <p:txBody>
          <a:bodyPr wrap="square" lIns="0" tIns="0" rIns="0" bIns="0" rtlCol="0" anchor="ctr"/>
          <a:lstStyle/>
          <a:p>
            <a:pPr algn="ctr" indent="0" marL="0">
              <a:buNone/>
            </a:pPr>
            <a:r>
              <a:rPr lang="en-US" sz="1350" b="1" dirty="0">
                <a:solidFill>
                  <a:srgbClr val="0B0B0B"/>
                </a:solidFill>
                <a:latin typeface="Calibri" pitchFamily="34" charset="0"/>
                <a:ea typeface="Calibri" pitchFamily="34" charset="-122"/>
                <a:cs typeface="Calibri" pitchFamily="34" charset="-120"/>
              </a:rPr>
              <a:t>China + India = 68% of all deaths</a:t>
            </a:r>
            <a:endParaRPr lang="en-US" sz="1350" dirty="0"/>
          </a:p>
        </p:txBody>
      </p:sp>
      <p:sp>
        <p:nvSpPr>
          <p:cNvPr id="10" name="Shape 6"/>
          <p:cNvSpPr/>
          <p:nvPr/>
        </p:nvSpPr>
        <p:spPr>
          <a:xfrm>
            <a:off x="2331720" y="4133088"/>
            <a:ext cx="3566160" cy="347472"/>
          </a:xfrm>
          <a:prstGeom prst="roundRect">
            <a:avLst>
              <a:gd name="adj" fmla="val 50000"/>
            </a:avLst>
          </a:prstGeom>
          <a:solidFill>
            <a:srgbClr val="10243E"/>
          </a:solidFill>
          <a:ln w="12700">
            <a:solidFill>
              <a:srgbClr val="10243E"/>
            </a:solidFill>
            <a:prstDash val="solid"/>
          </a:ln>
        </p:spPr>
      </p:sp>
      <p:sp>
        <p:nvSpPr>
          <p:cNvPr id="11" name="Text 7"/>
          <p:cNvSpPr txBox="1"/>
          <p:nvPr/>
        </p:nvSpPr>
        <p:spPr>
          <a:xfrm>
            <a:off x="2331720" y="4133088"/>
            <a:ext cx="356616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LIVE IN TABLEAU: switch the map here</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457200" y="201168"/>
            <a:ext cx="8229600" cy="310896"/>
          </a:xfrm>
          <a:prstGeom prst="rect">
            <a:avLst/>
          </a:prstGeom>
          <a:noFill/>
          <a:ln/>
        </p:spPr>
        <p:txBody>
          <a:bodyPr wrap="square" lIns="0" tIns="0" rIns="0" bIns="0" rtlCol="0" anchor="ctr"/>
          <a:lstStyle/>
          <a:p>
            <a:pPr indent="0" marL="0">
              <a:buNone/>
            </a:pPr>
            <a:r>
              <a:rPr lang="en-US" sz="1300" b="1" dirty="0">
                <a:solidFill>
                  <a:srgbClr val="0B0B0B"/>
                </a:solidFill>
                <a:latin typeface="Calibri" pitchFamily="34" charset="0"/>
                <a:ea typeface="Calibri" pitchFamily="34" charset="-122"/>
                <a:cs typeface="Calibri" pitchFamily="34" charset="-120"/>
              </a:rPr>
              <a:t>B1.3  Rank</a:t>
            </a:r>
            <a:pPr indent="0" marL="0">
              <a:buNone/>
            </a:pPr>
            <a:r>
              <a:rPr lang="en-US" sz="1300" dirty="0">
                <a:solidFill>
                  <a:srgbClr val="52514E"/>
                </a:solidFill>
                <a:latin typeface="Calibri" pitchFamily="34" charset="0"/>
                <a:ea typeface="Calibri" pitchFamily="34" charset="-122"/>
                <a:cs typeface="Calibri" pitchFamily="34" charset="-120"/>
              </a:rPr>
              <a:t>   Four measures, four different leaderboards</a:t>
            </a:r>
            <a:endParaRPr lang="en-US" sz="1300" dirty="0"/>
          </a:p>
        </p:txBody>
      </p:sp>
      <p:sp>
        <p:nvSpPr>
          <p:cNvPr id="3" name="Shape 1"/>
          <p:cNvSpPr/>
          <p:nvPr/>
        </p:nvSpPr>
        <p:spPr>
          <a:xfrm>
            <a:off x="6812280" y="4485132"/>
            <a:ext cx="1874520" cy="310896"/>
          </a:xfrm>
          <a:prstGeom prst="roundRect">
            <a:avLst>
              <a:gd name="adj" fmla="val 50000"/>
            </a:avLst>
          </a:prstGeom>
          <a:solidFill>
            <a:srgbClr val="10243E"/>
          </a:solidFill>
          <a:ln w="12700">
            <a:solidFill>
              <a:srgbClr val="10243E"/>
            </a:solidFill>
            <a:prstDash val="solid"/>
          </a:ln>
        </p:spPr>
      </p:sp>
      <p:sp>
        <p:nvSpPr>
          <p:cNvPr id="4" name="Shape 2"/>
          <p:cNvSpPr/>
          <p:nvPr/>
        </p:nvSpPr>
        <p:spPr>
          <a:xfrm>
            <a:off x="6967728" y="4585716"/>
            <a:ext cx="118872" cy="118872"/>
          </a:xfrm>
          <a:prstGeom prst="ellipse">
            <a:avLst/>
          </a:prstGeom>
          <a:solidFill>
            <a:srgbClr val="EB6834"/>
          </a:solidFill>
          <a:ln w="12700">
            <a:solidFill>
              <a:srgbClr val="EB6834"/>
            </a:solidFill>
            <a:prstDash val="solid"/>
          </a:ln>
        </p:spPr>
      </p:sp>
      <p:sp>
        <p:nvSpPr>
          <p:cNvPr id="5" name="Text 3"/>
          <p:cNvSpPr txBox="1"/>
          <p:nvPr/>
        </p:nvSpPr>
        <p:spPr>
          <a:xfrm>
            <a:off x="7141464" y="4485132"/>
            <a:ext cx="1417320" cy="310896"/>
          </a:xfrm>
          <a:prstGeom prst="rect">
            <a:avLst/>
          </a:prstGeom>
          <a:noFill/>
          <a:ln/>
        </p:spPr>
        <p:txBody>
          <a:bodyPr wrap="square" lIns="0" tIns="0" rIns="0" bIns="0" rtlCol="0" anchor="ctr"/>
          <a:lstStyle/>
          <a:p>
            <a:pPr algn="l" indent="0" marL="0">
              <a:buNone/>
            </a:pPr>
            <a:r>
              <a:rPr lang="en-US" sz="1100" b="1" dirty="0">
                <a:solidFill>
                  <a:srgbClr val="FFFFFF"/>
                </a:solidFill>
                <a:latin typeface="Calibri" pitchFamily="34" charset="0"/>
                <a:ea typeface="Calibri" pitchFamily="34" charset="-122"/>
                <a:cs typeface="Calibri" pitchFamily="34" charset="-120"/>
              </a:rPr>
              <a:t>Arnav Jain</a:t>
            </a:r>
            <a:endParaRPr lang="en-US" sz="1100" dirty="0"/>
          </a:p>
        </p:txBody>
      </p:sp>
      <p:pic>
        <p:nvPicPr>
          <p:cNvPr id="6" name="Image 0" descr="C:\Users\kalpi\Downloads\DAS732_A1_Submission\images\Fig10.png">    </p:cNvPr>
          <p:cNvPicPr>
            <a:picLocks noChangeAspect="1"/>
          </p:cNvPicPr>
          <p:nvPr/>
        </p:nvPicPr>
        <p:blipFill>
          <a:blip r:embed="rId1"/>
          <a:stretch>
            <a:fillRect/>
          </a:stretch>
        </p:blipFill>
        <p:spPr>
          <a:xfrm>
            <a:off x="1816743" y="603504"/>
            <a:ext cx="5510514" cy="3808476"/>
          </a:xfrm>
          <a:prstGeom prst="rect">
            <a:avLst/>
          </a:prstGeom>
        </p:spPr>
      </p:pic>
      <p:sp>
        <p:nvSpPr>
          <p:cNvPr id="7" name="Text 4"/>
          <p:cNvSpPr txBox="1"/>
          <p:nvPr/>
        </p:nvSpPr>
        <p:spPr>
          <a:xfrm>
            <a:off x="457200" y="4485132"/>
            <a:ext cx="6172200" cy="329184"/>
          </a:xfrm>
          <a:prstGeom prst="rect">
            <a:avLst/>
          </a:prstGeom>
          <a:noFill/>
          <a:ln/>
        </p:spPr>
        <p:txBody>
          <a:bodyPr wrap="square" lIns="0" tIns="0" rIns="0" bIns="0" rtlCol="0" anchor="ctr"/>
          <a:lstStyle/>
          <a:p>
            <a:pPr indent="0" marL="0">
              <a:buNone/>
            </a:pPr>
            <a:r>
              <a:rPr lang="en-US" sz="1300" i="1" dirty="0">
                <a:solidFill>
                  <a:srgbClr val="52514E"/>
                </a:solidFill>
                <a:latin typeface="Calibri" pitchFamily="34" charset="0"/>
                <a:ea typeface="Calibri" pitchFamily="34" charset="-122"/>
                <a:cs typeface="Calibri" pitchFamily="34" charset="-120"/>
              </a:rPr>
              <a:t>The US is 1st for events and 1st for damage - and 23rd for deaths.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457200" y="201168"/>
            <a:ext cx="8229600" cy="310896"/>
          </a:xfrm>
          <a:prstGeom prst="rect">
            <a:avLst/>
          </a:prstGeom>
          <a:noFill/>
          <a:ln/>
        </p:spPr>
        <p:txBody>
          <a:bodyPr wrap="square" lIns="0" tIns="0" rIns="0" bIns="0" rtlCol="0" anchor="ctr"/>
          <a:lstStyle/>
          <a:p>
            <a:pPr indent="0" marL="0">
              <a:buNone/>
            </a:pPr>
            <a:r>
              <a:rPr lang="en-US" sz="1300" b="1" dirty="0">
                <a:solidFill>
                  <a:srgbClr val="0B0B0B"/>
                </a:solidFill>
                <a:latin typeface="Calibri" pitchFamily="34" charset="0"/>
                <a:ea typeface="Calibri" pitchFamily="34" charset="-122"/>
                <a:cs typeface="Calibri" pitchFamily="34" charset="-120"/>
              </a:rPr>
              <a:t>B1.4  Derive</a:t>
            </a:r>
            <a:pPr indent="0" marL="0">
              <a:buNone/>
            </a:pPr>
            <a:r>
              <a:rPr lang="en-US" sz="1300" dirty="0">
                <a:solidFill>
                  <a:srgbClr val="52514E"/>
                </a:solidFill>
                <a:latin typeface="Calibri" pitchFamily="34" charset="0"/>
                <a:ea typeface="Calibri" pitchFamily="34" charset="-122"/>
                <a:cs typeface="Calibri" pitchFamily="34" charset="-120"/>
              </a:rPr>
              <a:t>   Two countries hold half of all deaths</a:t>
            </a:r>
            <a:endParaRPr lang="en-US" sz="1300" dirty="0"/>
          </a:p>
        </p:txBody>
      </p:sp>
      <p:sp>
        <p:nvSpPr>
          <p:cNvPr id="3" name="Shape 1"/>
          <p:cNvSpPr/>
          <p:nvPr/>
        </p:nvSpPr>
        <p:spPr>
          <a:xfrm>
            <a:off x="6812280" y="4485132"/>
            <a:ext cx="1874520" cy="310896"/>
          </a:xfrm>
          <a:prstGeom prst="roundRect">
            <a:avLst>
              <a:gd name="adj" fmla="val 50000"/>
            </a:avLst>
          </a:prstGeom>
          <a:solidFill>
            <a:srgbClr val="10243E"/>
          </a:solidFill>
          <a:ln w="12700">
            <a:solidFill>
              <a:srgbClr val="10243E"/>
            </a:solidFill>
            <a:prstDash val="solid"/>
          </a:ln>
        </p:spPr>
      </p:sp>
      <p:sp>
        <p:nvSpPr>
          <p:cNvPr id="4" name="Shape 2"/>
          <p:cNvSpPr/>
          <p:nvPr/>
        </p:nvSpPr>
        <p:spPr>
          <a:xfrm>
            <a:off x="6967728" y="4585716"/>
            <a:ext cx="118872" cy="118872"/>
          </a:xfrm>
          <a:prstGeom prst="ellipse">
            <a:avLst/>
          </a:prstGeom>
          <a:solidFill>
            <a:srgbClr val="EB6834"/>
          </a:solidFill>
          <a:ln w="12700">
            <a:solidFill>
              <a:srgbClr val="EB6834"/>
            </a:solidFill>
            <a:prstDash val="solid"/>
          </a:ln>
        </p:spPr>
      </p:sp>
      <p:sp>
        <p:nvSpPr>
          <p:cNvPr id="5" name="Text 3"/>
          <p:cNvSpPr txBox="1"/>
          <p:nvPr/>
        </p:nvSpPr>
        <p:spPr>
          <a:xfrm>
            <a:off x="7141464" y="4485132"/>
            <a:ext cx="1417320" cy="310896"/>
          </a:xfrm>
          <a:prstGeom prst="rect">
            <a:avLst/>
          </a:prstGeom>
          <a:noFill/>
          <a:ln/>
        </p:spPr>
        <p:txBody>
          <a:bodyPr wrap="square" lIns="0" tIns="0" rIns="0" bIns="0" rtlCol="0" anchor="ctr"/>
          <a:lstStyle/>
          <a:p>
            <a:pPr algn="l" indent="0" marL="0">
              <a:buNone/>
            </a:pPr>
            <a:r>
              <a:rPr lang="en-US" sz="1100" b="1" dirty="0">
                <a:solidFill>
                  <a:srgbClr val="FFFFFF"/>
                </a:solidFill>
                <a:latin typeface="Calibri" pitchFamily="34" charset="0"/>
                <a:ea typeface="Calibri" pitchFamily="34" charset="-122"/>
                <a:cs typeface="Calibri" pitchFamily="34" charset="-120"/>
              </a:rPr>
              <a:t>Arnav Jain</a:t>
            </a:r>
            <a:endParaRPr lang="en-US" sz="1100" dirty="0"/>
          </a:p>
        </p:txBody>
      </p:sp>
      <p:pic>
        <p:nvPicPr>
          <p:cNvPr id="6" name="Image 0" descr="C:\Users\kalpi\Downloads\DAS732_A1_Submission\images\Fig11.png">    </p:cNvPr>
          <p:cNvPicPr>
            <a:picLocks noChangeAspect="1"/>
          </p:cNvPicPr>
          <p:nvPr/>
        </p:nvPicPr>
        <p:blipFill>
          <a:blip r:embed="rId1"/>
          <a:stretch>
            <a:fillRect/>
          </a:stretch>
        </p:blipFill>
        <p:spPr>
          <a:xfrm>
            <a:off x="1484135" y="603504"/>
            <a:ext cx="6175731" cy="3808476"/>
          </a:xfrm>
          <a:prstGeom prst="rect">
            <a:avLst/>
          </a:prstGeom>
        </p:spPr>
      </p:pic>
      <p:sp>
        <p:nvSpPr>
          <p:cNvPr id="7" name="Text 4"/>
          <p:cNvSpPr txBox="1"/>
          <p:nvPr/>
        </p:nvSpPr>
        <p:spPr>
          <a:xfrm>
            <a:off x="457200" y="4485132"/>
            <a:ext cx="6172200" cy="329184"/>
          </a:xfrm>
          <a:prstGeom prst="rect">
            <a:avLst/>
          </a:prstGeom>
          <a:noFill/>
          <a:ln/>
        </p:spPr>
        <p:txBody>
          <a:bodyPr wrap="square" lIns="0" tIns="0" rIns="0" bIns="0" rtlCol="0" anchor="ctr"/>
          <a:lstStyle/>
          <a:p>
            <a:pPr indent="0" marL="0">
              <a:buNone/>
            </a:pPr>
            <a:r>
              <a:rPr lang="en-US" sz="1300" i="1" dirty="0">
                <a:solidFill>
                  <a:srgbClr val="52514E"/>
                </a:solidFill>
                <a:latin typeface="Calibri" pitchFamily="34" charset="0"/>
                <a:ea typeface="Calibri" pitchFamily="34" charset="-122"/>
                <a:cs typeface="Calibri" pitchFamily="34" charset="-120"/>
              </a:rPr>
              <a:t>But it takes twenty countries to reach half of all recorded events.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457200" y="201168"/>
            <a:ext cx="8229600" cy="310896"/>
          </a:xfrm>
          <a:prstGeom prst="rect">
            <a:avLst/>
          </a:prstGeom>
          <a:noFill/>
          <a:ln/>
        </p:spPr>
        <p:txBody>
          <a:bodyPr wrap="square" lIns="0" tIns="0" rIns="0" bIns="0" rtlCol="0" anchor="ctr"/>
          <a:lstStyle/>
          <a:p>
            <a:pPr indent="0" marL="0">
              <a:buNone/>
            </a:pPr>
            <a:r>
              <a:rPr lang="en-US" sz="1300" b="1" dirty="0">
                <a:solidFill>
                  <a:srgbClr val="0B0B0B"/>
                </a:solidFill>
                <a:latin typeface="Calibri" pitchFamily="34" charset="0"/>
                <a:ea typeface="Calibri" pitchFamily="34" charset="-122"/>
                <a:cs typeface="Calibri" pitchFamily="34" charset="-120"/>
              </a:rPr>
              <a:t>B1.5  Derive</a:t>
            </a:r>
            <a:pPr indent="0" marL="0">
              <a:buNone/>
            </a:pPr>
            <a:r>
              <a:rPr lang="en-US" sz="1300" dirty="0">
                <a:solidFill>
                  <a:srgbClr val="52514E"/>
                </a:solidFill>
                <a:latin typeface="Calibri" pitchFamily="34" charset="0"/>
                <a:ea typeface="Calibri" pitchFamily="34" charset="-122"/>
                <a:cs typeface="Calibri" pitchFamily="34" charset="-120"/>
              </a:rPr>
              <a:t>   Same exposure, 1,000x the lethality</a:t>
            </a:r>
            <a:endParaRPr lang="en-US" sz="1300" dirty="0"/>
          </a:p>
        </p:txBody>
      </p:sp>
      <p:sp>
        <p:nvSpPr>
          <p:cNvPr id="3" name="Shape 1"/>
          <p:cNvSpPr/>
          <p:nvPr/>
        </p:nvSpPr>
        <p:spPr>
          <a:xfrm>
            <a:off x="6812280" y="4485132"/>
            <a:ext cx="1874520" cy="310896"/>
          </a:xfrm>
          <a:prstGeom prst="roundRect">
            <a:avLst>
              <a:gd name="adj" fmla="val 50000"/>
            </a:avLst>
          </a:prstGeom>
          <a:solidFill>
            <a:srgbClr val="10243E"/>
          </a:solidFill>
          <a:ln w="12700">
            <a:solidFill>
              <a:srgbClr val="10243E"/>
            </a:solidFill>
            <a:prstDash val="solid"/>
          </a:ln>
        </p:spPr>
      </p:sp>
      <p:sp>
        <p:nvSpPr>
          <p:cNvPr id="4" name="Shape 2"/>
          <p:cNvSpPr/>
          <p:nvPr/>
        </p:nvSpPr>
        <p:spPr>
          <a:xfrm>
            <a:off x="6967728" y="4585716"/>
            <a:ext cx="118872" cy="118872"/>
          </a:xfrm>
          <a:prstGeom prst="ellipse">
            <a:avLst/>
          </a:prstGeom>
          <a:solidFill>
            <a:srgbClr val="EB6834"/>
          </a:solidFill>
          <a:ln w="12700">
            <a:solidFill>
              <a:srgbClr val="EB6834"/>
            </a:solidFill>
            <a:prstDash val="solid"/>
          </a:ln>
        </p:spPr>
      </p:sp>
      <p:sp>
        <p:nvSpPr>
          <p:cNvPr id="5" name="Text 3"/>
          <p:cNvSpPr txBox="1"/>
          <p:nvPr/>
        </p:nvSpPr>
        <p:spPr>
          <a:xfrm>
            <a:off x="7141464" y="4485132"/>
            <a:ext cx="1417320" cy="310896"/>
          </a:xfrm>
          <a:prstGeom prst="rect">
            <a:avLst/>
          </a:prstGeom>
          <a:noFill/>
          <a:ln/>
        </p:spPr>
        <p:txBody>
          <a:bodyPr wrap="square" lIns="0" tIns="0" rIns="0" bIns="0" rtlCol="0" anchor="ctr"/>
          <a:lstStyle/>
          <a:p>
            <a:pPr algn="l" indent="0" marL="0">
              <a:buNone/>
            </a:pPr>
            <a:r>
              <a:rPr lang="en-US" sz="1100" b="1" dirty="0">
                <a:solidFill>
                  <a:srgbClr val="FFFFFF"/>
                </a:solidFill>
                <a:latin typeface="Calibri" pitchFamily="34" charset="0"/>
                <a:ea typeface="Calibri" pitchFamily="34" charset="-122"/>
                <a:cs typeface="Calibri" pitchFamily="34" charset="-120"/>
              </a:rPr>
              <a:t>Arnav Jain</a:t>
            </a:r>
            <a:endParaRPr lang="en-US" sz="1100" dirty="0"/>
          </a:p>
        </p:txBody>
      </p:sp>
      <p:pic>
        <p:nvPicPr>
          <p:cNvPr id="6" name="Image 0" descr="C:\Users\kalpi\Downloads\DAS732_A1_Submission\images\Fig12.png">    </p:cNvPr>
          <p:cNvPicPr>
            <a:picLocks noChangeAspect="1"/>
          </p:cNvPicPr>
          <p:nvPr/>
        </p:nvPicPr>
        <p:blipFill>
          <a:blip r:embed="rId1"/>
          <a:stretch>
            <a:fillRect/>
          </a:stretch>
        </p:blipFill>
        <p:spPr>
          <a:xfrm>
            <a:off x="1882194" y="603504"/>
            <a:ext cx="5379611" cy="3808476"/>
          </a:xfrm>
          <a:prstGeom prst="rect">
            <a:avLst/>
          </a:prstGeom>
        </p:spPr>
      </p:pic>
      <p:sp>
        <p:nvSpPr>
          <p:cNvPr id="7" name="Text 4"/>
          <p:cNvSpPr txBox="1"/>
          <p:nvPr/>
        </p:nvSpPr>
        <p:spPr>
          <a:xfrm>
            <a:off x="457200" y="4485132"/>
            <a:ext cx="6172200" cy="329184"/>
          </a:xfrm>
          <a:prstGeom prst="rect">
            <a:avLst/>
          </a:prstGeom>
          <a:noFill/>
          <a:ln/>
        </p:spPr>
        <p:txBody>
          <a:bodyPr wrap="square" lIns="0" tIns="0" rIns="0" bIns="0" rtlCol="0" anchor="ctr"/>
          <a:lstStyle/>
          <a:p>
            <a:pPr indent="0" marL="0">
              <a:buNone/>
            </a:pPr>
            <a:r>
              <a:rPr lang="en-US" sz="1300" i="1" dirty="0">
                <a:solidFill>
                  <a:srgbClr val="52514E"/>
                </a:solidFill>
                <a:latin typeface="Calibri" pitchFamily="34" charset="0"/>
                <a:ea typeface="Calibri" pitchFamily="34" charset="-122"/>
                <a:cs typeface="Calibri" pitchFamily="34" charset="-120"/>
              </a:rPr>
              <a:t>China 11,139 deaths per event; Australia 11. That gap is not hazard - it is vulnerability.</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457200" y="201168"/>
            <a:ext cx="8229600" cy="310896"/>
          </a:xfrm>
          <a:prstGeom prst="rect">
            <a:avLst/>
          </a:prstGeom>
          <a:noFill/>
          <a:ln/>
        </p:spPr>
        <p:txBody>
          <a:bodyPr wrap="square" lIns="0" tIns="0" rIns="0" bIns="0" rtlCol="0" anchor="ctr"/>
          <a:lstStyle/>
          <a:p>
            <a:pPr indent="0" marL="0">
              <a:buNone/>
            </a:pPr>
            <a:r>
              <a:rPr lang="en-US" sz="1300" b="1" dirty="0">
                <a:solidFill>
                  <a:srgbClr val="0B0B0B"/>
                </a:solidFill>
                <a:latin typeface="Calibri" pitchFamily="34" charset="0"/>
                <a:ea typeface="Calibri" pitchFamily="34" charset="-122"/>
                <a:cs typeface="Calibri" pitchFamily="34" charset="-120"/>
              </a:rPr>
              <a:t>C1.1  Compare</a:t>
            </a:r>
            <a:pPr indent="0" marL="0">
              <a:buNone/>
            </a:pPr>
            <a:r>
              <a:rPr lang="en-US" sz="1300" dirty="0">
                <a:solidFill>
                  <a:srgbClr val="52514E"/>
                </a:solidFill>
                <a:latin typeface="Calibri" pitchFamily="34" charset="0"/>
                <a:ea typeface="Calibri" pitchFamily="34" charset="-122"/>
                <a:cs typeface="Calibri" pitchFamily="34" charset="-120"/>
              </a:rPr>
              <a:t>   5% of events. 51% of deaths.</a:t>
            </a:r>
            <a:endParaRPr lang="en-US" sz="1300" dirty="0"/>
          </a:p>
        </p:txBody>
      </p:sp>
      <p:sp>
        <p:nvSpPr>
          <p:cNvPr id="3" name="Shape 1"/>
          <p:cNvSpPr/>
          <p:nvPr/>
        </p:nvSpPr>
        <p:spPr>
          <a:xfrm>
            <a:off x="6812280" y="4485132"/>
            <a:ext cx="1874520" cy="310896"/>
          </a:xfrm>
          <a:prstGeom prst="roundRect">
            <a:avLst>
              <a:gd name="adj" fmla="val 50000"/>
            </a:avLst>
          </a:prstGeom>
          <a:solidFill>
            <a:srgbClr val="10243E"/>
          </a:solidFill>
          <a:ln w="12700">
            <a:solidFill>
              <a:srgbClr val="10243E"/>
            </a:solidFill>
            <a:prstDash val="solid"/>
          </a:ln>
        </p:spPr>
      </p:sp>
      <p:sp>
        <p:nvSpPr>
          <p:cNvPr id="4" name="Shape 2"/>
          <p:cNvSpPr/>
          <p:nvPr/>
        </p:nvSpPr>
        <p:spPr>
          <a:xfrm>
            <a:off x="6967728" y="4585716"/>
            <a:ext cx="118872" cy="118872"/>
          </a:xfrm>
          <a:prstGeom prst="ellipse">
            <a:avLst/>
          </a:prstGeom>
          <a:solidFill>
            <a:srgbClr val="EDA100"/>
          </a:solidFill>
          <a:ln w="12700">
            <a:solidFill>
              <a:srgbClr val="EDA100"/>
            </a:solidFill>
            <a:prstDash val="solid"/>
          </a:ln>
        </p:spPr>
      </p:sp>
      <p:sp>
        <p:nvSpPr>
          <p:cNvPr id="5" name="Text 3"/>
          <p:cNvSpPr txBox="1"/>
          <p:nvPr/>
        </p:nvSpPr>
        <p:spPr>
          <a:xfrm>
            <a:off x="7141464" y="4485132"/>
            <a:ext cx="1417320" cy="310896"/>
          </a:xfrm>
          <a:prstGeom prst="rect">
            <a:avLst/>
          </a:prstGeom>
          <a:noFill/>
          <a:ln/>
        </p:spPr>
        <p:txBody>
          <a:bodyPr wrap="square" lIns="0" tIns="0" rIns="0" bIns="0" rtlCol="0" anchor="ctr"/>
          <a:lstStyle/>
          <a:p>
            <a:pPr algn="l" indent="0" marL="0">
              <a:buNone/>
            </a:pPr>
            <a:r>
              <a:rPr lang="en-US" sz="1100" b="1" dirty="0">
                <a:solidFill>
                  <a:srgbClr val="FFFFFF"/>
                </a:solidFill>
                <a:latin typeface="Calibri" pitchFamily="34" charset="0"/>
                <a:ea typeface="Calibri" pitchFamily="34" charset="-122"/>
                <a:cs typeface="Calibri" pitchFamily="34" charset="-120"/>
              </a:rPr>
              <a:t>Kalpit</a:t>
            </a:r>
            <a:endParaRPr lang="en-US" sz="1100" dirty="0"/>
          </a:p>
        </p:txBody>
      </p:sp>
      <p:pic>
        <p:nvPicPr>
          <p:cNvPr id="6" name="Image 0" descr="C:\Users\kalpi\Downloads\DAS732_A1_Submission\images\Fig13.png">    </p:cNvPr>
          <p:cNvPicPr>
            <a:picLocks noChangeAspect="1"/>
          </p:cNvPicPr>
          <p:nvPr/>
        </p:nvPicPr>
        <p:blipFill>
          <a:blip r:embed="rId1"/>
          <a:stretch>
            <a:fillRect/>
          </a:stretch>
        </p:blipFill>
        <p:spPr>
          <a:xfrm>
            <a:off x="310896" y="779099"/>
            <a:ext cx="8522208" cy="3457285"/>
          </a:xfrm>
          <a:prstGeom prst="rect">
            <a:avLst/>
          </a:prstGeom>
        </p:spPr>
      </p:pic>
      <p:sp>
        <p:nvSpPr>
          <p:cNvPr id="7" name="Text 4"/>
          <p:cNvSpPr txBox="1"/>
          <p:nvPr/>
        </p:nvSpPr>
        <p:spPr>
          <a:xfrm>
            <a:off x="457200" y="4485132"/>
            <a:ext cx="6172200" cy="329184"/>
          </a:xfrm>
          <a:prstGeom prst="rect">
            <a:avLst/>
          </a:prstGeom>
          <a:noFill/>
          <a:ln/>
        </p:spPr>
        <p:txBody>
          <a:bodyPr wrap="square" lIns="0" tIns="0" rIns="0" bIns="0" rtlCol="0" anchor="ctr"/>
          <a:lstStyle/>
          <a:p>
            <a:pPr indent="0" marL="0">
              <a:buNone/>
            </a:pPr>
            <a:r>
              <a:rPr lang="en-US" sz="1300" i="1" dirty="0">
                <a:solidFill>
                  <a:srgbClr val="52514E"/>
                </a:solidFill>
                <a:latin typeface="Calibri" pitchFamily="34" charset="0"/>
                <a:ea typeface="Calibri" pitchFamily="34" charset="-122"/>
                <a:cs typeface="Calibri" pitchFamily="34" charset="-120"/>
              </a:rPr>
              <a:t>Drought kills, storms cost, floods displace - they are different hazards.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457200" y="201168"/>
            <a:ext cx="8229600" cy="310896"/>
          </a:xfrm>
          <a:prstGeom prst="rect">
            <a:avLst/>
          </a:prstGeom>
          <a:noFill/>
          <a:ln/>
        </p:spPr>
        <p:txBody>
          <a:bodyPr wrap="square" lIns="0" tIns="0" rIns="0" bIns="0" rtlCol="0" anchor="ctr"/>
          <a:lstStyle/>
          <a:p>
            <a:pPr indent="0" marL="0">
              <a:buNone/>
            </a:pPr>
            <a:r>
              <a:rPr lang="en-US" sz="1300" b="1" dirty="0">
                <a:solidFill>
                  <a:srgbClr val="0B0B0B"/>
                </a:solidFill>
                <a:latin typeface="Calibri" pitchFamily="34" charset="0"/>
                <a:ea typeface="Calibri" pitchFamily="34" charset="-122"/>
                <a:cs typeface="Calibri" pitchFamily="34" charset="-120"/>
              </a:rPr>
              <a:t>C1.2  Relate</a:t>
            </a:r>
            <a:pPr indent="0" marL="0">
              <a:buNone/>
            </a:pPr>
            <a:r>
              <a:rPr lang="en-US" sz="1300" dirty="0">
                <a:solidFill>
                  <a:srgbClr val="52514E"/>
                </a:solidFill>
                <a:latin typeface="Calibri" pitchFamily="34" charset="0"/>
                <a:ea typeface="Calibri" pitchFamily="34" charset="-122"/>
                <a:cs typeface="Calibri" pitchFamily="34" charset="-120"/>
              </a:rPr>
              <a:t>   Deadly and costly are different hazards</a:t>
            </a:r>
            <a:endParaRPr lang="en-US" sz="1300" dirty="0"/>
          </a:p>
        </p:txBody>
      </p:sp>
      <p:sp>
        <p:nvSpPr>
          <p:cNvPr id="3" name="Shape 1"/>
          <p:cNvSpPr/>
          <p:nvPr/>
        </p:nvSpPr>
        <p:spPr>
          <a:xfrm>
            <a:off x="6812280" y="4485132"/>
            <a:ext cx="1874520" cy="310896"/>
          </a:xfrm>
          <a:prstGeom prst="roundRect">
            <a:avLst>
              <a:gd name="adj" fmla="val 50000"/>
            </a:avLst>
          </a:prstGeom>
          <a:solidFill>
            <a:srgbClr val="10243E"/>
          </a:solidFill>
          <a:ln w="12700">
            <a:solidFill>
              <a:srgbClr val="10243E"/>
            </a:solidFill>
            <a:prstDash val="solid"/>
          </a:ln>
        </p:spPr>
      </p:sp>
      <p:sp>
        <p:nvSpPr>
          <p:cNvPr id="4" name="Shape 2"/>
          <p:cNvSpPr/>
          <p:nvPr/>
        </p:nvSpPr>
        <p:spPr>
          <a:xfrm>
            <a:off x="6967728" y="4585716"/>
            <a:ext cx="118872" cy="118872"/>
          </a:xfrm>
          <a:prstGeom prst="ellipse">
            <a:avLst/>
          </a:prstGeom>
          <a:solidFill>
            <a:srgbClr val="EDA100"/>
          </a:solidFill>
          <a:ln w="12700">
            <a:solidFill>
              <a:srgbClr val="EDA100"/>
            </a:solidFill>
            <a:prstDash val="solid"/>
          </a:ln>
        </p:spPr>
      </p:sp>
      <p:sp>
        <p:nvSpPr>
          <p:cNvPr id="5" name="Text 3"/>
          <p:cNvSpPr txBox="1"/>
          <p:nvPr/>
        </p:nvSpPr>
        <p:spPr>
          <a:xfrm>
            <a:off x="7141464" y="4485132"/>
            <a:ext cx="1417320" cy="310896"/>
          </a:xfrm>
          <a:prstGeom prst="rect">
            <a:avLst/>
          </a:prstGeom>
          <a:noFill/>
          <a:ln/>
        </p:spPr>
        <p:txBody>
          <a:bodyPr wrap="square" lIns="0" tIns="0" rIns="0" bIns="0" rtlCol="0" anchor="ctr"/>
          <a:lstStyle/>
          <a:p>
            <a:pPr algn="l" indent="0" marL="0">
              <a:buNone/>
            </a:pPr>
            <a:r>
              <a:rPr lang="en-US" sz="1100" b="1" dirty="0">
                <a:solidFill>
                  <a:srgbClr val="FFFFFF"/>
                </a:solidFill>
                <a:latin typeface="Calibri" pitchFamily="34" charset="0"/>
                <a:ea typeface="Calibri" pitchFamily="34" charset="-122"/>
                <a:cs typeface="Calibri" pitchFamily="34" charset="-120"/>
              </a:rPr>
              <a:t>Kalpit</a:t>
            </a:r>
            <a:endParaRPr lang="en-US" sz="1100" dirty="0"/>
          </a:p>
        </p:txBody>
      </p:sp>
      <p:pic>
        <p:nvPicPr>
          <p:cNvPr id="6" name="Image 0" descr="C:\Users\kalpi\Downloads\DAS732_A1_Submission\images\Fig14.png">    </p:cNvPr>
          <p:cNvPicPr>
            <a:picLocks noChangeAspect="1"/>
          </p:cNvPicPr>
          <p:nvPr/>
        </p:nvPicPr>
        <p:blipFill>
          <a:blip r:embed="rId1"/>
          <a:stretch>
            <a:fillRect/>
          </a:stretch>
        </p:blipFill>
        <p:spPr>
          <a:xfrm>
            <a:off x="1819367" y="603504"/>
            <a:ext cx="5505265" cy="3808476"/>
          </a:xfrm>
          <a:prstGeom prst="rect">
            <a:avLst/>
          </a:prstGeom>
        </p:spPr>
      </p:pic>
      <p:sp>
        <p:nvSpPr>
          <p:cNvPr id="7" name="Text 4"/>
          <p:cNvSpPr txBox="1"/>
          <p:nvPr/>
        </p:nvSpPr>
        <p:spPr>
          <a:xfrm>
            <a:off x="457200" y="4485132"/>
            <a:ext cx="6172200" cy="329184"/>
          </a:xfrm>
          <a:prstGeom prst="rect">
            <a:avLst/>
          </a:prstGeom>
          <a:noFill/>
          <a:ln/>
        </p:spPr>
        <p:txBody>
          <a:bodyPr wrap="square" lIns="0" tIns="0" rIns="0" bIns="0" rtlCol="0" anchor="ctr"/>
          <a:lstStyle/>
          <a:p>
            <a:pPr indent="0" marL="0">
              <a:buNone/>
            </a:pPr>
            <a:r>
              <a:rPr lang="en-US" sz="1300" i="1" dirty="0">
                <a:solidFill>
                  <a:srgbClr val="52514E"/>
                </a:solidFill>
                <a:latin typeface="Calibri" pitchFamily="34" charset="0"/>
                <a:ea typeface="Calibri" pitchFamily="34" charset="-122"/>
                <a:cs typeface="Calibri" pitchFamily="34" charset="-120"/>
              </a:rPr>
              <a:t>Drought: 143 deaths per record. Wildfire: $250M and a median of 7 deaths.</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457200" y="201168"/>
            <a:ext cx="8229600" cy="310896"/>
          </a:xfrm>
          <a:prstGeom prst="rect">
            <a:avLst/>
          </a:prstGeom>
          <a:noFill/>
          <a:ln/>
        </p:spPr>
        <p:txBody>
          <a:bodyPr wrap="square" lIns="0" tIns="0" rIns="0" bIns="0" rtlCol="0" anchor="ctr"/>
          <a:lstStyle/>
          <a:p>
            <a:pPr indent="0" marL="0">
              <a:buNone/>
            </a:pPr>
            <a:r>
              <a:rPr lang="en-US" sz="1300" b="1" dirty="0">
                <a:solidFill>
                  <a:srgbClr val="0B0B0B"/>
                </a:solidFill>
                <a:latin typeface="Calibri" pitchFamily="34" charset="0"/>
                <a:ea typeface="Calibri" pitchFamily="34" charset="-122"/>
                <a:cs typeface="Calibri" pitchFamily="34" charset="-120"/>
              </a:rPr>
              <a:t>C1.3  Trend</a:t>
            </a:r>
            <a:pPr indent="0" marL="0">
              <a:buNone/>
            </a:pPr>
            <a:r>
              <a:rPr lang="en-US" sz="1300" dirty="0">
                <a:solidFill>
                  <a:srgbClr val="52514E"/>
                </a:solidFill>
                <a:latin typeface="Calibri" pitchFamily="34" charset="0"/>
                <a:ea typeface="Calibri" pitchFamily="34" charset="-122"/>
                <a:cs typeface="Calibri" pitchFamily="34" charset="-120"/>
              </a:rPr>
              <a:t>   $2.07 trillion - the costliest decade yet</a:t>
            </a:r>
            <a:endParaRPr lang="en-US" sz="1300" dirty="0"/>
          </a:p>
        </p:txBody>
      </p:sp>
      <p:sp>
        <p:nvSpPr>
          <p:cNvPr id="3" name="Shape 1"/>
          <p:cNvSpPr/>
          <p:nvPr/>
        </p:nvSpPr>
        <p:spPr>
          <a:xfrm>
            <a:off x="6812280" y="4485132"/>
            <a:ext cx="1874520" cy="310896"/>
          </a:xfrm>
          <a:prstGeom prst="roundRect">
            <a:avLst>
              <a:gd name="adj" fmla="val 50000"/>
            </a:avLst>
          </a:prstGeom>
          <a:solidFill>
            <a:srgbClr val="10243E"/>
          </a:solidFill>
          <a:ln w="12700">
            <a:solidFill>
              <a:srgbClr val="10243E"/>
            </a:solidFill>
            <a:prstDash val="solid"/>
          </a:ln>
        </p:spPr>
      </p:sp>
      <p:sp>
        <p:nvSpPr>
          <p:cNvPr id="4" name="Shape 2"/>
          <p:cNvSpPr/>
          <p:nvPr/>
        </p:nvSpPr>
        <p:spPr>
          <a:xfrm>
            <a:off x="6967728" y="4585716"/>
            <a:ext cx="118872" cy="118872"/>
          </a:xfrm>
          <a:prstGeom prst="ellipse">
            <a:avLst/>
          </a:prstGeom>
          <a:solidFill>
            <a:srgbClr val="EDA100"/>
          </a:solidFill>
          <a:ln w="12700">
            <a:solidFill>
              <a:srgbClr val="EDA100"/>
            </a:solidFill>
            <a:prstDash val="solid"/>
          </a:ln>
        </p:spPr>
      </p:sp>
      <p:sp>
        <p:nvSpPr>
          <p:cNvPr id="5" name="Text 3"/>
          <p:cNvSpPr txBox="1"/>
          <p:nvPr/>
        </p:nvSpPr>
        <p:spPr>
          <a:xfrm>
            <a:off x="7141464" y="4485132"/>
            <a:ext cx="1417320" cy="310896"/>
          </a:xfrm>
          <a:prstGeom prst="rect">
            <a:avLst/>
          </a:prstGeom>
          <a:noFill/>
          <a:ln/>
        </p:spPr>
        <p:txBody>
          <a:bodyPr wrap="square" lIns="0" tIns="0" rIns="0" bIns="0" rtlCol="0" anchor="ctr"/>
          <a:lstStyle/>
          <a:p>
            <a:pPr algn="l" indent="0" marL="0">
              <a:buNone/>
            </a:pPr>
            <a:r>
              <a:rPr lang="en-US" sz="1100" b="1" dirty="0">
                <a:solidFill>
                  <a:srgbClr val="FFFFFF"/>
                </a:solidFill>
                <a:latin typeface="Calibri" pitchFamily="34" charset="0"/>
                <a:ea typeface="Calibri" pitchFamily="34" charset="-122"/>
                <a:cs typeface="Calibri" pitchFamily="34" charset="-120"/>
              </a:rPr>
              <a:t>Kalpit</a:t>
            </a:r>
            <a:endParaRPr lang="en-US" sz="1100" dirty="0"/>
          </a:p>
        </p:txBody>
      </p:sp>
      <p:pic>
        <p:nvPicPr>
          <p:cNvPr id="6" name="Image 0" descr="C:\Users\kalpi\Downloads\DAS732_A1_Submission\images\Fig15.png">    </p:cNvPr>
          <p:cNvPicPr>
            <a:picLocks noChangeAspect="1"/>
          </p:cNvPicPr>
          <p:nvPr/>
        </p:nvPicPr>
        <p:blipFill>
          <a:blip r:embed="rId1"/>
          <a:stretch>
            <a:fillRect/>
          </a:stretch>
        </p:blipFill>
        <p:spPr>
          <a:xfrm>
            <a:off x="1337404" y="603504"/>
            <a:ext cx="6469192" cy="3808476"/>
          </a:xfrm>
          <a:prstGeom prst="rect">
            <a:avLst/>
          </a:prstGeom>
        </p:spPr>
      </p:pic>
      <p:sp>
        <p:nvSpPr>
          <p:cNvPr id="7" name="Text 4"/>
          <p:cNvSpPr txBox="1"/>
          <p:nvPr/>
        </p:nvSpPr>
        <p:spPr>
          <a:xfrm>
            <a:off x="457200" y="4485132"/>
            <a:ext cx="6172200" cy="329184"/>
          </a:xfrm>
          <a:prstGeom prst="rect">
            <a:avLst/>
          </a:prstGeom>
          <a:noFill/>
          <a:ln/>
        </p:spPr>
        <p:txBody>
          <a:bodyPr wrap="square" lIns="0" tIns="0" rIns="0" bIns="0" rtlCol="0" anchor="ctr"/>
          <a:lstStyle/>
          <a:p>
            <a:pPr indent="0" marL="0">
              <a:buNone/>
            </a:pPr>
            <a:r>
              <a:rPr lang="en-US" sz="1300" i="1" dirty="0">
                <a:solidFill>
                  <a:srgbClr val="52514E"/>
                </a:solidFill>
                <a:latin typeface="Calibri" pitchFamily="34" charset="0"/>
                <a:ea typeface="Calibri" pitchFamily="34" charset="-122"/>
                <a:cs typeface="Calibri" pitchFamily="34" charset="-120"/>
              </a:rPr>
              <a:t>Damage coverage does not improve after 1970, so this rise is not a reporting artefact.</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457200" y="201168"/>
            <a:ext cx="8229600" cy="310896"/>
          </a:xfrm>
          <a:prstGeom prst="rect">
            <a:avLst/>
          </a:prstGeom>
          <a:noFill/>
          <a:ln/>
        </p:spPr>
        <p:txBody>
          <a:bodyPr wrap="square" lIns="0" tIns="0" rIns="0" bIns="0" rtlCol="0" anchor="ctr"/>
          <a:lstStyle/>
          <a:p>
            <a:pPr indent="0" marL="0">
              <a:buNone/>
            </a:pPr>
            <a:r>
              <a:rPr lang="en-US" sz="1300" b="1" dirty="0">
                <a:solidFill>
                  <a:srgbClr val="0B0B0B"/>
                </a:solidFill>
                <a:latin typeface="Calibri" pitchFamily="34" charset="0"/>
                <a:ea typeface="Calibri" pitchFamily="34" charset="-122"/>
                <a:cs typeface="Calibri" pitchFamily="34" charset="-120"/>
              </a:rPr>
              <a:t>C1.4  Compare</a:t>
            </a:r>
            <a:pPr indent="0" marL="0">
              <a:buNone/>
            </a:pPr>
            <a:r>
              <a:rPr lang="en-US" sz="1300" dirty="0">
                <a:solidFill>
                  <a:srgbClr val="52514E"/>
                </a:solidFill>
                <a:latin typeface="Calibri" pitchFamily="34" charset="0"/>
                <a:ea typeface="Calibri" pitchFamily="34" charset="-122"/>
                <a:cs typeface="Calibri" pitchFamily="34" charset="-120"/>
              </a:rPr>
              <a:t>   Which hazards became survivable?</a:t>
            </a:r>
            <a:endParaRPr lang="en-US" sz="1300" dirty="0"/>
          </a:p>
        </p:txBody>
      </p:sp>
      <p:sp>
        <p:nvSpPr>
          <p:cNvPr id="3" name="Shape 1"/>
          <p:cNvSpPr/>
          <p:nvPr/>
        </p:nvSpPr>
        <p:spPr>
          <a:xfrm>
            <a:off x="6812280" y="4485132"/>
            <a:ext cx="1874520" cy="310896"/>
          </a:xfrm>
          <a:prstGeom prst="roundRect">
            <a:avLst>
              <a:gd name="adj" fmla="val 50000"/>
            </a:avLst>
          </a:prstGeom>
          <a:solidFill>
            <a:srgbClr val="10243E"/>
          </a:solidFill>
          <a:ln w="12700">
            <a:solidFill>
              <a:srgbClr val="10243E"/>
            </a:solidFill>
            <a:prstDash val="solid"/>
          </a:ln>
        </p:spPr>
      </p:sp>
      <p:sp>
        <p:nvSpPr>
          <p:cNvPr id="4" name="Shape 2"/>
          <p:cNvSpPr/>
          <p:nvPr/>
        </p:nvSpPr>
        <p:spPr>
          <a:xfrm>
            <a:off x="6967728" y="4585716"/>
            <a:ext cx="118872" cy="118872"/>
          </a:xfrm>
          <a:prstGeom prst="ellipse">
            <a:avLst/>
          </a:prstGeom>
          <a:solidFill>
            <a:srgbClr val="EDA100"/>
          </a:solidFill>
          <a:ln w="12700">
            <a:solidFill>
              <a:srgbClr val="EDA100"/>
            </a:solidFill>
            <a:prstDash val="solid"/>
          </a:ln>
        </p:spPr>
      </p:sp>
      <p:sp>
        <p:nvSpPr>
          <p:cNvPr id="5" name="Text 3"/>
          <p:cNvSpPr txBox="1"/>
          <p:nvPr/>
        </p:nvSpPr>
        <p:spPr>
          <a:xfrm>
            <a:off x="7141464" y="4485132"/>
            <a:ext cx="1417320" cy="310896"/>
          </a:xfrm>
          <a:prstGeom prst="rect">
            <a:avLst/>
          </a:prstGeom>
          <a:noFill/>
          <a:ln/>
        </p:spPr>
        <p:txBody>
          <a:bodyPr wrap="square" lIns="0" tIns="0" rIns="0" bIns="0" rtlCol="0" anchor="ctr"/>
          <a:lstStyle/>
          <a:p>
            <a:pPr algn="l" indent="0" marL="0">
              <a:buNone/>
            </a:pPr>
            <a:r>
              <a:rPr lang="en-US" sz="1100" b="1" dirty="0">
                <a:solidFill>
                  <a:srgbClr val="FFFFFF"/>
                </a:solidFill>
                <a:latin typeface="Calibri" pitchFamily="34" charset="0"/>
                <a:ea typeface="Calibri" pitchFamily="34" charset="-122"/>
                <a:cs typeface="Calibri" pitchFamily="34" charset="-120"/>
              </a:rPr>
              <a:t>Kalpit</a:t>
            </a:r>
            <a:endParaRPr lang="en-US" sz="1100" dirty="0"/>
          </a:p>
        </p:txBody>
      </p:sp>
      <p:pic>
        <p:nvPicPr>
          <p:cNvPr id="6" name="Image 0" descr="C:\Users\kalpi\Downloads\DAS732_A1_Submission\images\Fig16.png">    </p:cNvPr>
          <p:cNvPicPr>
            <a:picLocks noChangeAspect="1"/>
          </p:cNvPicPr>
          <p:nvPr/>
        </p:nvPicPr>
        <p:blipFill>
          <a:blip r:embed="rId1"/>
          <a:stretch>
            <a:fillRect/>
          </a:stretch>
        </p:blipFill>
        <p:spPr>
          <a:xfrm>
            <a:off x="874323" y="603504"/>
            <a:ext cx="7395354" cy="3808476"/>
          </a:xfrm>
          <a:prstGeom prst="rect">
            <a:avLst/>
          </a:prstGeom>
        </p:spPr>
      </p:pic>
      <p:sp>
        <p:nvSpPr>
          <p:cNvPr id="7" name="Text 4"/>
          <p:cNvSpPr txBox="1"/>
          <p:nvPr/>
        </p:nvSpPr>
        <p:spPr>
          <a:xfrm>
            <a:off x="457200" y="4485132"/>
            <a:ext cx="6172200" cy="329184"/>
          </a:xfrm>
          <a:prstGeom prst="rect">
            <a:avLst/>
          </a:prstGeom>
          <a:noFill/>
          <a:ln/>
        </p:spPr>
        <p:txBody>
          <a:bodyPr wrap="square" lIns="0" tIns="0" rIns="0" bIns="0" rtlCol="0" anchor="ctr"/>
          <a:lstStyle/>
          <a:p>
            <a:pPr indent="0" marL="0">
              <a:buNone/>
            </a:pPr>
            <a:r>
              <a:rPr lang="en-US" sz="1300" i="1" dirty="0">
                <a:solidFill>
                  <a:srgbClr val="52514E"/>
                </a:solidFill>
                <a:latin typeface="Calibri" pitchFamily="34" charset="0"/>
                <a:ea typeface="Calibri" pitchFamily="34" charset="-122"/>
                <a:cs typeface="Calibri" pitchFamily="34" charset="-120"/>
              </a:rPr>
              <a:t>Drought 29,051 -&gt; 53. Earthquakes never improved. Extreme heat went the wrong way.</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457200" y="201168"/>
            <a:ext cx="8229600" cy="310896"/>
          </a:xfrm>
          <a:prstGeom prst="rect">
            <a:avLst/>
          </a:prstGeom>
          <a:noFill/>
          <a:ln/>
        </p:spPr>
        <p:txBody>
          <a:bodyPr wrap="square" lIns="0" tIns="0" rIns="0" bIns="0" rtlCol="0" anchor="ctr"/>
          <a:lstStyle/>
          <a:p>
            <a:pPr indent="0" marL="0">
              <a:buNone/>
            </a:pPr>
            <a:r>
              <a:rPr lang="en-US" sz="1300" b="1" dirty="0">
                <a:solidFill>
                  <a:srgbClr val="0B0B0B"/>
                </a:solidFill>
                <a:latin typeface="Calibri" pitchFamily="34" charset="0"/>
                <a:ea typeface="Calibri" pitchFamily="34" charset="-122"/>
                <a:cs typeface="Calibri" pitchFamily="34" charset="-120"/>
              </a:rPr>
              <a:t>C1.5  Correlate</a:t>
            </a:r>
            <a:pPr indent="0" marL="0">
              <a:buNone/>
            </a:pPr>
            <a:r>
              <a:rPr lang="en-US" sz="1300" dirty="0">
                <a:solidFill>
                  <a:srgbClr val="52514E"/>
                </a:solidFill>
                <a:latin typeface="Calibri" pitchFamily="34" charset="0"/>
                <a:ea typeface="Calibri" pitchFamily="34" charset="-122"/>
                <a:cs typeface="Calibri" pitchFamily="34" charset="-120"/>
              </a:rPr>
              <a:t>   Costs rose. Deaths did not follow.</a:t>
            </a:r>
            <a:endParaRPr lang="en-US" sz="1300" dirty="0"/>
          </a:p>
        </p:txBody>
      </p:sp>
      <p:sp>
        <p:nvSpPr>
          <p:cNvPr id="3" name="Shape 1"/>
          <p:cNvSpPr/>
          <p:nvPr/>
        </p:nvSpPr>
        <p:spPr>
          <a:xfrm>
            <a:off x="6812280" y="4485132"/>
            <a:ext cx="1874520" cy="310896"/>
          </a:xfrm>
          <a:prstGeom prst="roundRect">
            <a:avLst>
              <a:gd name="adj" fmla="val 50000"/>
            </a:avLst>
          </a:prstGeom>
          <a:solidFill>
            <a:srgbClr val="10243E"/>
          </a:solidFill>
          <a:ln w="12700">
            <a:solidFill>
              <a:srgbClr val="10243E"/>
            </a:solidFill>
            <a:prstDash val="solid"/>
          </a:ln>
        </p:spPr>
      </p:sp>
      <p:sp>
        <p:nvSpPr>
          <p:cNvPr id="4" name="Shape 2"/>
          <p:cNvSpPr/>
          <p:nvPr/>
        </p:nvSpPr>
        <p:spPr>
          <a:xfrm>
            <a:off x="6967728" y="4585716"/>
            <a:ext cx="118872" cy="118872"/>
          </a:xfrm>
          <a:prstGeom prst="ellipse">
            <a:avLst/>
          </a:prstGeom>
          <a:solidFill>
            <a:srgbClr val="EDA100"/>
          </a:solidFill>
          <a:ln w="12700">
            <a:solidFill>
              <a:srgbClr val="EDA100"/>
            </a:solidFill>
            <a:prstDash val="solid"/>
          </a:ln>
        </p:spPr>
      </p:sp>
      <p:sp>
        <p:nvSpPr>
          <p:cNvPr id="5" name="Text 3"/>
          <p:cNvSpPr txBox="1"/>
          <p:nvPr/>
        </p:nvSpPr>
        <p:spPr>
          <a:xfrm>
            <a:off x="7141464" y="4485132"/>
            <a:ext cx="1417320" cy="310896"/>
          </a:xfrm>
          <a:prstGeom prst="rect">
            <a:avLst/>
          </a:prstGeom>
          <a:noFill/>
          <a:ln/>
        </p:spPr>
        <p:txBody>
          <a:bodyPr wrap="square" lIns="0" tIns="0" rIns="0" bIns="0" rtlCol="0" anchor="ctr"/>
          <a:lstStyle/>
          <a:p>
            <a:pPr algn="l" indent="0" marL="0">
              <a:buNone/>
            </a:pPr>
            <a:r>
              <a:rPr lang="en-US" sz="1100" b="1" dirty="0">
                <a:solidFill>
                  <a:srgbClr val="FFFFFF"/>
                </a:solidFill>
                <a:latin typeface="Calibri" pitchFamily="34" charset="0"/>
                <a:ea typeface="Calibri" pitchFamily="34" charset="-122"/>
                <a:cs typeface="Calibri" pitchFamily="34" charset="-120"/>
              </a:rPr>
              <a:t>Kalpit</a:t>
            </a:r>
            <a:endParaRPr lang="en-US" sz="1100" dirty="0"/>
          </a:p>
        </p:txBody>
      </p:sp>
      <p:pic>
        <p:nvPicPr>
          <p:cNvPr id="6" name="Image 0" descr="C:\Users\kalpi\Downloads\DAS732_A1_Submission\images\Fig17.png">    </p:cNvPr>
          <p:cNvPicPr>
            <a:picLocks noChangeAspect="1"/>
          </p:cNvPicPr>
          <p:nvPr/>
        </p:nvPicPr>
        <p:blipFill>
          <a:blip r:embed="rId1"/>
          <a:stretch>
            <a:fillRect/>
          </a:stretch>
        </p:blipFill>
        <p:spPr>
          <a:xfrm>
            <a:off x="1490224" y="603504"/>
            <a:ext cx="6163552" cy="3808476"/>
          </a:xfrm>
          <a:prstGeom prst="rect">
            <a:avLst/>
          </a:prstGeom>
        </p:spPr>
      </p:pic>
      <p:sp>
        <p:nvSpPr>
          <p:cNvPr id="7" name="Text 4"/>
          <p:cNvSpPr txBox="1"/>
          <p:nvPr/>
        </p:nvSpPr>
        <p:spPr>
          <a:xfrm>
            <a:off x="457200" y="4485132"/>
            <a:ext cx="6172200" cy="329184"/>
          </a:xfrm>
          <a:prstGeom prst="rect">
            <a:avLst/>
          </a:prstGeom>
          <a:noFill/>
          <a:ln/>
        </p:spPr>
        <p:txBody>
          <a:bodyPr wrap="square" lIns="0" tIns="0" rIns="0" bIns="0" rtlCol="0" anchor="ctr"/>
          <a:lstStyle/>
          <a:p>
            <a:pPr indent="0" marL="0">
              <a:buNone/>
            </a:pPr>
            <a:r>
              <a:rPr lang="en-US" sz="1300" i="1" dirty="0">
                <a:solidFill>
                  <a:srgbClr val="52514E"/>
                </a:solidFill>
                <a:latin typeface="Calibri" pitchFamily="34" charset="0"/>
                <a:ea typeface="Calibri" pitchFamily="34" charset="-122"/>
                <a:cs typeface="Calibri" pitchFamily="34" charset="-120"/>
              </a:rPr>
              <a:t>Rank correlation between annual deaths and annual damage: -0.01.</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0243E"/>
        </a:solidFill>
      </p:bgPr>
    </p:bg>
    <p:spTree>
      <p:nvGrpSpPr>
        <p:cNvPr id="1" name=""/>
        <p:cNvGrpSpPr/>
        <p:nvPr/>
      </p:nvGrpSpPr>
      <p:grpSpPr>
        <a:xfrm>
          <a:off x="0" y="0"/>
          <a:ext cx="0" cy="0"/>
          <a:chOff x="0" y="0"/>
          <a:chExt cx="0" cy="0"/>
        </a:xfrm>
      </p:grpSpPr>
      <p:sp>
        <p:nvSpPr>
          <p:cNvPr id="2" name="Text 0"/>
          <p:cNvSpPr txBox="1"/>
          <p:nvPr/>
        </p:nvSpPr>
        <p:spPr>
          <a:xfrm>
            <a:off x="457200" y="658368"/>
            <a:ext cx="8229600" cy="566928"/>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Exposure up. Vulnerability down. The bill still rising.</a:t>
            </a:r>
            <a:endParaRPr lang="en-US" sz="2800" dirty="0"/>
          </a:p>
        </p:txBody>
      </p:sp>
      <p:sp>
        <p:nvSpPr>
          <p:cNvPr id="3" name="Shape 1"/>
          <p:cNvSpPr/>
          <p:nvPr/>
        </p:nvSpPr>
        <p:spPr>
          <a:xfrm>
            <a:off x="457200" y="1627632"/>
            <a:ext cx="274320" cy="274320"/>
          </a:xfrm>
          <a:prstGeom prst="ellipse">
            <a:avLst/>
          </a:prstGeom>
          <a:solidFill>
            <a:srgbClr val="2A78D6"/>
          </a:solidFill>
          <a:ln w="12700">
            <a:solidFill>
              <a:srgbClr val="2A78D6"/>
            </a:solidFill>
            <a:prstDash val="solid"/>
          </a:ln>
        </p:spPr>
      </p:sp>
      <p:sp>
        <p:nvSpPr>
          <p:cNvPr id="4" name="Text 2"/>
          <p:cNvSpPr txBox="1"/>
          <p:nvPr/>
        </p:nvSpPr>
        <p:spPr>
          <a:xfrm>
            <a:off x="896112" y="1572768"/>
            <a:ext cx="2423160" cy="3657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Exposure rose</a:t>
            </a:r>
            <a:endParaRPr lang="en-US" sz="1700" dirty="0"/>
          </a:p>
        </p:txBody>
      </p:sp>
      <p:sp>
        <p:nvSpPr>
          <p:cNvPr id="5" name="Text 3"/>
          <p:cNvSpPr txBox="1"/>
          <p:nvPr/>
        </p:nvSpPr>
        <p:spPr>
          <a:xfrm>
            <a:off x="3383280" y="1572768"/>
            <a:ext cx="5394960" cy="365760"/>
          </a:xfrm>
          <a:prstGeom prst="rect">
            <a:avLst/>
          </a:prstGeom>
          <a:noFill/>
          <a:ln/>
        </p:spPr>
        <p:txBody>
          <a:bodyPr wrap="square" lIns="0" tIns="0" rIns="0" bIns="0" rtlCol="0" anchor="ctr"/>
          <a:lstStyle/>
          <a:p>
            <a:pPr indent="0" marL="0">
              <a:buNone/>
            </a:pPr>
            <a:r>
              <a:rPr lang="en-US" sz="1350" dirty="0">
                <a:solidFill>
                  <a:srgbClr val="9FB3CC"/>
                </a:solidFill>
                <a:latin typeface="Calibri" pitchFamily="34" charset="0"/>
                <a:ea typeface="Calibri" pitchFamily="34" charset="-122"/>
                <a:cs typeface="Calibri" pitchFamily="34" charset="-120"/>
              </a:rPr>
              <a:t>more assets, more people - and much better reporting</a:t>
            </a:r>
            <a:endParaRPr lang="en-US" sz="1350" dirty="0"/>
          </a:p>
        </p:txBody>
      </p:sp>
      <p:sp>
        <p:nvSpPr>
          <p:cNvPr id="6" name="Shape 4"/>
          <p:cNvSpPr/>
          <p:nvPr/>
        </p:nvSpPr>
        <p:spPr>
          <a:xfrm>
            <a:off x="457200" y="2359152"/>
            <a:ext cx="274320" cy="274320"/>
          </a:xfrm>
          <a:prstGeom prst="ellipse">
            <a:avLst/>
          </a:prstGeom>
          <a:solidFill>
            <a:srgbClr val="1BAF7A"/>
          </a:solidFill>
          <a:ln w="12700">
            <a:solidFill>
              <a:srgbClr val="1BAF7A"/>
            </a:solidFill>
            <a:prstDash val="solid"/>
          </a:ln>
        </p:spPr>
      </p:sp>
      <p:sp>
        <p:nvSpPr>
          <p:cNvPr id="7" name="Text 5"/>
          <p:cNvSpPr txBox="1"/>
          <p:nvPr/>
        </p:nvSpPr>
        <p:spPr>
          <a:xfrm>
            <a:off x="896112" y="2304288"/>
            <a:ext cx="2423160" cy="3657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Vulnerability fell</a:t>
            </a:r>
            <a:endParaRPr lang="en-US" sz="1700" dirty="0"/>
          </a:p>
        </p:txBody>
      </p:sp>
      <p:sp>
        <p:nvSpPr>
          <p:cNvPr id="8" name="Text 6"/>
          <p:cNvSpPr txBox="1"/>
          <p:nvPr/>
        </p:nvSpPr>
        <p:spPr>
          <a:xfrm>
            <a:off x="3383280" y="2304288"/>
            <a:ext cx="5394960" cy="365760"/>
          </a:xfrm>
          <a:prstGeom prst="rect">
            <a:avLst/>
          </a:prstGeom>
          <a:noFill/>
          <a:ln/>
        </p:spPr>
        <p:txBody>
          <a:bodyPr wrap="square" lIns="0" tIns="0" rIns="0" bIns="0" rtlCol="0" anchor="ctr"/>
          <a:lstStyle/>
          <a:p>
            <a:pPr indent="0" marL="0">
              <a:buNone/>
            </a:pPr>
            <a:r>
              <a:rPr lang="en-US" sz="1350" dirty="0">
                <a:solidFill>
                  <a:srgbClr val="9FB3CC"/>
                </a:solidFill>
                <a:latin typeface="Calibri" pitchFamily="34" charset="0"/>
                <a:ea typeface="Calibri" pitchFamily="34" charset="-122"/>
                <a:cs typeface="Calibri" pitchFamily="34" charset="-120"/>
              </a:rPr>
              <a:t>deaths per recorded event down 99.4% in a century</a:t>
            </a:r>
            <a:endParaRPr lang="en-US" sz="1350" dirty="0"/>
          </a:p>
        </p:txBody>
      </p:sp>
      <p:sp>
        <p:nvSpPr>
          <p:cNvPr id="9" name="Shape 7"/>
          <p:cNvSpPr/>
          <p:nvPr/>
        </p:nvSpPr>
        <p:spPr>
          <a:xfrm>
            <a:off x="457200" y="3090672"/>
            <a:ext cx="274320" cy="274320"/>
          </a:xfrm>
          <a:prstGeom prst="ellipse">
            <a:avLst/>
          </a:prstGeom>
          <a:solidFill>
            <a:srgbClr val="EB6834"/>
          </a:solidFill>
          <a:ln w="12700">
            <a:solidFill>
              <a:srgbClr val="EB6834"/>
            </a:solidFill>
            <a:prstDash val="solid"/>
          </a:ln>
        </p:spPr>
      </p:sp>
      <p:sp>
        <p:nvSpPr>
          <p:cNvPr id="10" name="Text 8"/>
          <p:cNvSpPr txBox="1"/>
          <p:nvPr/>
        </p:nvSpPr>
        <p:spPr>
          <a:xfrm>
            <a:off x="896112" y="3035808"/>
            <a:ext cx="2423160" cy="3657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But unevenly</a:t>
            </a:r>
            <a:endParaRPr lang="en-US" sz="1700" dirty="0"/>
          </a:p>
        </p:txBody>
      </p:sp>
      <p:sp>
        <p:nvSpPr>
          <p:cNvPr id="11" name="Text 9"/>
          <p:cNvSpPr txBox="1"/>
          <p:nvPr/>
        </p:nvSpPr>
        <p:spPr>
          <a:xfrm>
            <a:off x="3383280" y="3035808"/>
            <a:ext cx="5394960" cy="365760"/>
          </a:xfrm>
          <a:prstGeom prst="rect">
            <a:avLst/>
          </a:prstGeom>
          <a:noFill/>
          <a:ln/>
        </p:spPr>
        <p:txBody>
          <a:bodyPr wrap="square" lIns="0" tIns="0" rIns="0" bIns="0" rtlCol="0" anchor="ctr"/>
          <a:lstStyle/>
          <a:p>
            <a:pPr indent="0" marL="0">
              <a:buNone/>
            </a:pPr>
            <a:r>
              <a:rPr lang="en-US" sz="1350" dirty="0">
                <a:solidFill>
                  <a:srgbClr val="9FB3CC"/>
                </a:solidFill>
                <a:latin typeface="Calibri" pitchFamily="34" charset="0"/>
                <a:ea typeface="Calibri" pitchFamily="34" charset="-122"/>
                <a:cs typeface="Calibri" pitchFamily="34" charset="-120"/>
              </a:rPr>
              <a:t>2 countries carry half of all deaths; heat is getting worse</a:t>
            </a:r>
            <a:endParaRPr lang="en-US" sz="1350" dirty="0"/>
          </a:p>
        </p:txBody>
      </p:sp>
      <p:sp>
        <p:nvSpPr>
          <p:cNvPr id="12" name="Text 10"/>
          <p:cNvSpPr txBox="1"/>
          <p:nvPr/>
        </p:nvSpPr>
        <p:spPr>
          <a:xfrm>
            <a:off x="457200" y="3913632"/>
            <a:ext cx="8229600" cy="402336"/>
          </a:xfrm>
          <a:prstGeom prst="rect">
            <a:avLst/>
          </a:prstGeom>
          <a:noFill/>
          <a:ln/>
        </p:spPr>
        <p:txBody>
          <a:bodyPr wrap="square" lIns="0" tIns="0" rIns="0" bIns="0" rtlCol="0" anchor="ctr"/>
          <a:lstStyle/>
          <a:p>
            <a:pPr indent="0" marL="0">
              <a:buNone/>
            </a:pPr>
            <a:r>
              <a:rPr lang="en-US" sz="1250" i="1" dirty="0">
                <a:solidFill>
                  <a:srgbClr val="7C93AD"/>
                </a:solidFill>
                <a:latin typeface="Calibri" pitchFamily="34" charset="0"/>
                <a:ea typeface="Calibri" pitchFamily="34" charset="-122"/>
                <a:cs typeface="Calibri" pitchFamily="34" charset="-120"/>
              </a:rPr>
              <a:t>And one caveat on our own headline: most of the fall in total deaths is the loss of mega-catastrophes, not a broad decline.</a:t>
            </a:r>
            <a:endParaRPr lang="en-US" sz="1250" dirty="0"/>
          </a:p>
        </p:txBody>
      </p:sp>
      <p:sp>
        <p:nvSpPr>
          <p:cNvPr id="13" name="Text 11"/>
          <p:cNvSpPr txBox="1"/>
          <p:nvPr/>
        </p:nvSpPr>
        <p:spPr>
          <a:xfrm>
            <a:off x="457200" y="4393692"/>
            <a:ext cx="8229600" cy="3657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Thank you.</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DAS732 A1 - A Century of Natural Disasters</dc:title>
  <dc:subject>PptxGenJS Presentation</dc:subject>
  <dc:creator>Lakshya Jain, Arnav Jain, Kalpit</dc:creator>
  <cp:lastModifiedBy>Lakshya Jain, Arnav Jain, Kalpit</cp:lastModifiedBy>
  <cp:revision>1</cp:revision>
  <dcterms:created xsi:type="dcterms:W3CDTF">2026-09-18T16:42:29Z</dcterms:created>
  <dcterms:modified xsi:type="dcterms:W3CDTF">2026-09-18T16:42:29Z</dcterms:modified>
</cp:coreProperties>
</file>