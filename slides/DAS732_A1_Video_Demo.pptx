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0:00-0:10  TITLE. Hold while Lakshya opens.
"Everyone believes natural disasters are getting worse. We took EM-DAT - 123 years, 225 countries, 15,015 recorded events - and asked one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0:10-0:20  THE QUESTION.
"Has the burden actually grown, and are we getting better at surviving it? The answer turned out to be yes to both - and the two halves don't fit together the way you'd expect."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0:20-1:00  PREPROCESSING (Lakshya - the brief allows the first minute for this).
"Four things had to be fixed before any chart. The file is semicolon-separated with comma decimals. It's an April 2023 snapshot, so 2023 is a part-year - we dropped those 51 rows or every trend would fake a collapse at the end. Some hazard labels carry a trailing space, which silently splits 'Extreme temperature' into two categories. And we verified rather than assumed that the adjusted damage column is constant 2022 dollars - nominal times 100 over CPI, and CPI is exactly 100 in 2022.
Critically, we left missing impact values missing, never zero - treating 'not reported' as 'nobody died' would have flattered every historical decade."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HANDOVER.
"We split it three ways - when, where and what. Each of us owns a sub-question end to end: its tasks, its charts and its inferences."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1:00-1:15  A1.2 TREND.
"Events per year. It looks like an explosion after 1970 - and this is where we nearly went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1:15-1:35  A1.3 IDENTIFY - the diagnostic figure.
"Volume grew 52-fold, which no physical change in hazard could produce on its own. And damage reporting covers at most half the records in any decade. So the count measures reporting as much as it measures hazard. Everything after this uses rates."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1:35-1:55  A1.4 COMPARE - the headline finding.
"Total deaths peaked in the 1920s at 5.2 million. But look at panel b - deaths per recorded event fell from about nineteen nine hundred to a hundred and twenty-nine. An individual recorded disaster today kills roughly one 150th of what one did a century ago."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1:55-2:15  A1.5 VALIDATE - the honest caveat. Do not skip this slide.
"The 2000s sit above the 1900s once the mega-catastrophes are removed. So the century-scale fall in TOTAL deaths is mostly the disappearance of events like the 1931 China flood, not a broad improvement. The per-event improvement is the claim that survives."
Handover to Arnav.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2:15-2:35  B1.1 / B1.2 LOCATE. *** DO THE MAP SWITCH LIVE IN TABLEAU ***
The rubric names "Tableau demo" explicitly - this is the moment to earn it.
"Here is where disasters are recorded - all 225 countries, fairly evenly shaded. Now watch what happens when I switch the same map to deaths. [SWITCH] It collapses onto two countries. China and India alone are 68% of all 22.9 million recorded deaths."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2:35-2:55  B1.3 RANK.
"The four leaderboards barely overlap. The United States is first for events and first for damage, and twenty-third for deaths. Bangladesh is third for deaths and twenty-third for damage. Wealth converts disaster exposure into property loss instead of death."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2:55-3:10  B1.4 DERIVE.
"Deaths are far more concentrated than disasters. The top five countries hold 87% of deaths but only 27% of events. Disasters happen nearly everywhere; dying from them does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3:10-3:30  B1.5 DERIVE - the slide that changed how we read the data.
"Take the twenty most disaster-prone countries, so exposure is roughly held constant, and lethality still spans a factor of a thousand. Two honest caveats: there is no population denominator, and China's figure is loaded by the pre-1960 famines. Even so, the spread is far too wide to be hazard."
Handover to Kalpit.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3:30-3:55  C1.1 COMPARE - the key chart of Task Set C.
"Drought is five percent of recorded events and fifty-one percent of recorded deaths. Storms are the mirror image: 31% of events, 42% of the money, six percent of the deaths. Earthquakes are the concentrated destroyer - a tenth of events, a quarter of the damage, but only 2.4% of people affected."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3:55-4:05  C1.2 RELATE.
"Each hazard sits somewhere in a deadliness-cost plane. Drought is alone on the right. Wildfire is the opposite corner - expensive, but almost harmless to life. There is no single severity axis."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4:05-4:20  C1.3 TREND.
"Real damage, inflation-adjusted to 2022 dollars. The 2010s cost 2.07 trillion - a record - and the 2020s are already at 699 billion with only three years counted."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4:20-4:35  C1.4 COMPARE.
"Drought fell from twenty-nine thousand deaths per event to fifty-three. Floods and storms collapsed too - all hazards that give warning. Earthquakes, which give none, did not improve at all. And extreme temperature went the wrong way: 125 in the 1960s, 1,202 in the 2020s."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4:35-4:45  C1.5 CORRELATE.
"Since 1970, events, damage and people affected all rise significantly. Annual deaths show no significant trend at all - p is 0.064. Costs and mortality have decoupled."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4:45-5:00  CLOSE (any member).
"So: exposure up, vulnerability down, and the bill rising. The world got dramatically better at not dying in disasters - unevenly, not at all for earthquakes, and going backwards for heat. Thank you."
HARD STOP at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243E"/>
        </a:solidFill>
      </p:bgPr>
    </p:bg>
    <p:spTree>
      <p:nvGrpSpPr>
        <p:cNvPr id="1" name=""/>
        <p:cNvGrpSpPr/>
        <p:nvPr/>
      </p:nvGrpSpPr>
      <p:grpSpPr>
        <a:xfrm>
          <a:off x="0" y="0"/>
          <a:ext cx="0" cy="0"/>
          <a:chOff x="0" y="0"/>
          <a:chExt cx="0" cy="0"/>
        </a:xfrm>
      </p:grpSpPr>
      <p:sp>
        <p:nvSpPr>
          <p:cNvPr id="2" name="Text 0"/>
          <p:cNvSpPr txBox="1"/>
          <p:nvPr/>
        </p:nvSpPr>
        <p:spPr>
          <a:xfrm>
            <a:off x="457200" y="1143000"/>
            <a:ext cx="8229600" cy="685800"/>
          </a:xfrm>
          <a:prstGeom prst="rect">
            <a:avLst/>
          </a:prstGeom>
          <a:noFill/>
          <a:ln/>
        </p:spPr>
        <p:txBody>
          <a:bodyPr wrap="square" lIns="0" tIns="0" rIns="0" bIns="0" rtlCol="0" anchor="ctr"/>
          <a:lstStyle/>
          <a:p>
            <a:pPr indent="0" marL="0">
              <a:buNone/>
            </a:pPr>
            <a:r>
              <a:rPr lang="en-US" sz="4000" b="1" dirty="0">
                <a:solidFill>
                  <a:srgbClr val="FFFFFF"/>
                </a:solidFill>
                <a:latin typeface="Calibri" pitchFamily="34" charset="0"/>
                <a:ea typeface="Calibri" pitchFamily="34" charset="-122"/>
                <a:cs typeface="Calibri" pitchFamily="34" charset="-120"/>
              </a:rPr>
              <a:t>A Century of Natural Disasters</a:t>
            </a:r>
            <a:endParaRPr lang="en-US" sz="4000" dirty="0"/>
          </a:p>
        </p:txBody>
      </p:sp>
      <p:sp>
        <p:nvSpPr>
          <p:cNvPr id="3" name="Text 1"/>
          <p:cNvSpPr txBox="1"/>
          <p:nvPr/>
        </p:nvSpPr>
        <p:spPr>
          <a:xfrm>
            <a:off x="457200" y="1847088"/>
            <a:ext cx="8229600" cy="457200"/>
          </a:xfrm>
          <a:prstGeom prst="rect">
            <a:avLst/>
          </a:prstGeom>
          <a:noFill/>
          <a:ln/>
        </p:spPr>
        <p:txBody>
          <a:bodyPr wrap="square" lIns="0" tIns="0" rIns="0" bIns="0" rtlCol="0" anchor="ctr"/>
          <a:lstStyle/>
          <a:p>
            <a:pPr indent="0" marL="0">
              <a:buNone/>
            </a:pPr>
            <a:r>
              <a:rPr lang="en-US" sz="2200" dirty="0">
                <a:solidFill>
                  <a:srgbClr val="CADCFC"/>
                </a:solidFill>
                <a:latin typeface="Calibri" pitchFamily="34" charset="0"/>
                <a:ea typeface="Calibri" pitchFamily="34" charset="-122"/>
                <a:cs typeface="Calibri" pitchFamily="34" charset="-120"/>
              </a:rPr>
              <a:t>More events, fewer deaths, bigger bills</a:t>
            </a:r>
            <a:endParaRPr lang="en-US" sz="2200" dirty="0"/>
          </a:p>
        </p:txBody>
      </p:sp>
      <p:sp>
        <p:nvSpPr>
          <p:cNvPr id="4" name="Text 2"/>
          <p:cNvSpPr txBox="1"/>
          <p:nvPr/>
        </p:nvSpPr>
        <p:spPr>
          <a:xfrm>
            <a:off x="457200" y="2395728"/>
            <a:ext cx="8229600" cy="310896"/>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Visual exploration of the EM-DAT Emergency Events Database, 1900-2022</a:t>
            </a:r>
            <a:endParaRPr lang="en-US" sz="1300" dirty="0"/>
          </a:p>
        </p:txBody>
      </p:sp>
      <p:sp>
        <p:nvSpPr>
          <p:cNvPr id="5" name="Shape 3"/>
          <p:cNvSpPr/>
          <p:nvPr/>
        </p:nvSpPr>
        <p:spPr>
          <a:xfrm>
            <a:off x="457200" y="3127248"/>
            <a:ext cx="164592" cy="164592"/>
          </a:xfrm>
          <a:prstGeom prst="ellipse">
            <a:avLst/>
          </a:prstGeom>
          <a:solidFill>
            <a:srgbClr val="2A78D6"/>
          </a:solidFill>
          <a:ln w="12700">
            <a:solidFill>
              <a:srgbClr val="2A78D6"/>
            </a:solidFill>
            <a:prstDash val="solid"/>
          </a:ln>
        </p:spPr>
      </p:sp>
      <p:sp>
        <p:nvSpPr>
          <p:cNvPr id="6" name="Text 4"/>
          <p:cNvSpPr txBox="1"/>
          <p:nvPr/>
        </p:nvSpPr>
        <p:spPr>
          <a:xfrm>
            <a:off x="749808" y="3063240"/>
            <a:ext cx="26517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Lakshya Jain  (BT2024044)</a:t>
            </a:r>
            <a:endParaRPr lang="en-US" sz="1300" dirty="0"/>
          </a:p>
        </p:txBody>
      </p:sp>
      <p:sp>
        <p:nvSpPr>
          <p:cNvPr id="7" name="Text 5"/>
          <p:cNvSpPr txBox="1"/>
          <p:nvPr/>
        </p:nvSpPr>
        <p:spPr>
          <a:xfrm>
            <a:off x="3429000" y="3063240"/>
            <a:ext cx="5120640" cy="292608"/>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When?  The temporal record</a:t>
            </a:r>
            <a:endParaRPr lang="en-US" sz="1300" dirty="0"/>
          </a:p>
        </p:txBody>
      </p:sp>
      <p:sp>
        <p:nvSpPr>
          <p:cNvPr id="8" name="Shape 6"/>
          <p:cNvSpPr/>
          <p:nvPr/>
        </p:nvSpPr>
        <p:spPr>
          <a:xfrm>
            <a:off x="457200" y="3529584"/>
            <a:ext cx="164592" cy="164592"/>
          </a:xfrm>
          <a:prstGeom prst="ellipse">
            <a:avLst/>
          </a:prstGeom>
          <a:solidFill>
            <a:srgbClr val="EB6834"/>
          </a:solidFill>
          <a:ln w="12700">
            <a:solidFill>
              <a:srgbClr val="EB6834"/>
            </a:solidFill>
            <a:prstDash val="solid"/>
          </a:ln>
        </p:spPr>
      </p:sp>
      <p:sp>
        <p:nvSpPr>
          <p:cNvPr id="9" name="Text 7"/>
          <p:cNvSpPr txBox="1"/>
          <p:nvPr/>
        </p:nvSpPr>
        <p:spPr>
          <a:xfrm>
            <a:off x="749808" y="3465576"/>
            <a:ext cx="26517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Arnav Jain  (BT2024233)</a:t>
            </a:r>
            <a:endParaRPr lang="en-US" sz="1300" dirty="0"/>
          </a:p>
        </p:txBody>
      </p:sp>
      <p:sp>
        <p:nvSpPr>
          <p:cNvPr id="10" name="Text 8"/>
          <p:cNvSpPr txBox="1"/>
          <p:nvPr/>
        </p:nvSpPr>
        <p:spPr>
          <a:xfrm>
            <a:off x="3429000" y="3465576"/>
            <a:ext cx="5120640" cy="292608"/>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Where?  The geography of exposure</a:t>
            </a:r>
            <a:endParaRPr lang="en-US" sz="1300" dirty="0"/>
          </a:p>
        </p:txBody>
      </p:sp>
      <p:sp>
        <p:nvSpPr>
          <p:cNvPr id="11" name="Shape 9"/>
          <p:cNvSpPr/>
          <p:nvPr/>
        </p:nvSpPr>
        <p:spPr>
          <a:xfrm>
            <a:off x="457200" y="3931920"/>
            <a:ext cx="164592" cy="164592"/>
          </a:xfrm>
          <a:prstGeom prst="ellipse">
            <a:avLst/>
          </a:prstGeom>
          <a:solidFill>
            <a:srgbClr val="EDA100"/>
          </a:solidFill>
          <a:ln w="12700">
            <a:solidFill>
              <a:srgbClr val="EDA100"/>
            </a:solidFill>
            <a:prstDash val="solid"/>
          </a:ln>
        </p:spPr>
      </p:sp>
      <p:sp>
        <p:nvSpPr>
          <p:cNvPr id="12" name="Text 10"/>
          <p:cNvSpPr txBox="1"/>
          <p:nvPr/>
        </p:nvSpPr>
        <p:spPr>
          <a:xfrm>
            <a:off x="749808" y="3867912"/>
            <a:ext cx="2651760" cy="292608"/>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Kalpit  (BT2024093)</a:t>
            </a:r>
            <a:endParaRPr lang="en-US" sz="1300" dirty="0"/>
          </a:p>
        </p:txBody>
      </p:sp>
      <p:sp>
        <p:nvSpPr>
          <p:cNvPr id="13" name="Text 11"/>
          <p:cNvSpPr txBox="1"/>
          <p:nvPr/>
        </p:nvSpPr>
        <p:spPr>
          <a:xfrm>
            <a:off x="3429000" y="3867912"/>
            <a:ext cx="5120640" cy="292608"/>
          </a:xfrm>
          <a:prstGeom prst="rect">
            <a:avLst/>
          </a:prstGeom>
          <a:noFill/>
          <a:ln/>
        </p:spPr>
        <p:txBody>
          <a:bodyPr wrap="square" lIns="0" tIns="0" rIns="0" bIns="0" rtlCol="0" anchor="ctr"/>
          <a:lstStyle/>
          <a:p>
            <a:pPr indent="0" marL="0">
              <a:buNone/>
            </a:pPr>
            <a:r>
              <a:rPr lang="en-US" sz="1300" dirty="0">
                <a:solidFill>
                  <a:srgbClr val="9FB3CC"/>
                </a:solidFill>
                <a:latin typeface="Calibri" pitchFamily="34" charset="0"/>
                <a:ea typeface="Calibri" pitchFamily="34" charset="-122"/>
                <a:cs typeface="Calibri" pitchFamily="34" charset="-120"/>
              </a:rPr>
              <a:t>What?  The impact signature of hazards</a:t>
            </a:r>
            <a:endParaRPr lang="en-US" sz="1300" dirty="0"/>
          </a:p>
        </p:txBody>
      </p:sp>
      <p:sp>
        <p:nvSpPr>
          <p:cNvPr id="14" name="Text 12"/>
          <p:cNvSpPr txBox="1"/>
          <p:nvPr/>
        </p:nvSpPr>
        <p:spPr>
          <a:xfrm>
            <a:off x="457200" y="4576572"/>
            <a:ext cx="8229600" cy="292608"/>
          </a:xfrm>
          <a:prstGeom prst="rect">
            <a:avLst/>
          </a:prstGeom>
          <a:noFill/>
          <a:ln/>
        </p:spPr>
        <p:txBody>
          <a:bodyPr wrap="square" lIns="0" tIns="0" rIns="0" bIns="0" rtlCol="0" anchor="ctr"/>
          <a:lstStyle/>
          <a:p>
            <a:pPr indent="0" marL="0">
              <a:buNone/>
            </a:pPr>
            <a:r>
              <a:rPr lang="en-US" sz="1100" dirty="0">
                <a:solidFill>
                  <a:srgbClr val="7C93AD"/>
                </a:solidFill>
                <a:latin typeface="Calibri" pitchFamily="34" charset="0"/>
                <a:ea typeface="Calibri" pitchFamily="34" charset="-122"/>
                <a:cs typeface="Calibri" pitchFamily="34" charset="-120"/>
              </a:rPr>
              <a:t>DAS732 Data Visualization  ·  Programming Assignment 1  ·  IIIT Bangalore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One question</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sp>
        <p:nvSpPr>
          <p:cNvPr id="6" name="Shape 4"/>
          <p:cNvSpPr/>
          <p:nvPr/>
        </p:nvSpPr>
        <p:spPr>
          <a:xfrm>
            <a:off x="457200" y="960120"/>
            <a:ext cx="8229600" cy="960120"/>
          </a:xfrm>
          <a:prstGeom prst="roundRect">
            <a:avLst>
              <a:gd name="adj" fmla="val 5714"/>
            </a:avLst>
          </a:prstGeom>
          <a:solidFill>
            <a:srgbClr val="F4F3EF"/>
          </a:solidFill>
          <a:ln w="12700">
            <a:solidFill>
              <a:srgbClr val="F4F3EF"/>
            </a:solidFill>
            <a:prstDash val="solid"/>
          </a:ln>
        </p:spPr>
      </p:sp>
      <p:sp>
        <p:nvSpPr>
          <p:cNvPr id="7" name="Text 5"/>
          <p:cNvSpPr txBox="1"/>
          <p:nvPr/>
        </p:nvSpPr>
        <p:spPr>
          <a:xfrm>
            <a:off x="777240" y="960120"/>
            <a:ext cx="7589520" cy="960120"/>
          </a:xfrm>
          <a:prstGeom prst="rect">
            <a:avLst/>
          </a:prstGeom>
          <a:noFill/>
          <a:ln/>
        </p:spPr>
        <p:txBody>
          <a:bodyPr wrap="square" lIns="0" tIns="0" rIns="0" bIns="0" rtlCol="0" anchor="ctr"/>
          <a:lstStyle/>
          <a:p>
            <a:pPr indent="0" marL="0">
              <a:lnSpc>
                <a:spcPct val="115000"/>
              </a:lnSpc>
              <a:buNone/>
            </a:pPr>
            <a:r>
              <a:rPr lang="en-US" sz="1800" b="1" dirty="0">
                <a:solidFill>
                  <a:srgbClr val="0B0B0B"/>
                </a:solidFill>
                <a:latin typeface="Calibri" pitchFamily="34" charset="0"/>
                <a:ea typeface="Calibri" pitchFamily="34" charset="-122"/>
                <a:cs typeface="Calibri" pitchFamily="34" charset="-120"/>
              </a:rPr>
              <a:t>Over 1900-2022, has the burden of natural disasters actually grown -</a:t>
            </a:r>
            <a:endParaRPr lang="en-US" sz="1800" dirty="0"/>
          </a:p>
          <a:p>
            <a:pPr indent="0" marL="0">
              <a:lnSpc>
                <a:spcPct val="115000"/>
              </a:lnSpc>
              <a:buNone/>
            </a:pPr>
            <a:r>
              <a:rPr lang="en-US" sz="1800" b="1" dirty="0">
                <a:solidFill>
                  <a:srgbClr val="0B0B0B"/>
                </a:solidFill>
                <a:latin typeface="Calibri" pitchFamily="34" charset="0"/>
                <a:ea typeface="Calibri" pitchFamily="34" charset="-122"/>
                <a:cs typeface="Calibri" pitchFamily="34" charset="-120"/>
              </a:rPr>
              <a:t>and has the world become better or worse at surviving it?</a:t>
            </a:r>
            <a:endParaRPr lang="en-US" sz="1800" dirty="0"/>
          </a:p>
        </p:txBody>
      </p:sp>
      <p:sp>
        <p:nvSpPr>
          <p:cNvPr id="8" name="Text 6"/>
          <p:cNvSpPr txBox="1"/>
          <p:nvPr/>
        </p:nvSpPr>
        <p:spPr>
          <a:xfrm>
            <a:off x="457200" y="2148840"/>
            <a:ext cx="8229600" cy="292608"/>
          </a:xfrm>
          <a:prstGeom prst="rect">
            <a:avLst/>
          </a:prstGeom>
          <a:noFill/>
          <a:ln/>
        </p:spPr>
        <p:txBody>
          <a:bodyPr wrap="square" lIns="0" tIns="0" rIns="0" bIns="0" rtlCol="0" anchor="ctr"/>
          <a:lstStyle/>
          <a:p>
            <a:pPr indent="0" marL="0">
              <a:buNone/>
            </a:pPr>
            <a:r>
              <a:rPr lang="en-US" sz="1400" dirty="0">
                <a:solidFill>
                  <a:srgbClr val="52514E"/>
                </a:solidFill>
                <a:latin typeface="Calibri" pitchFamily="34" charset="0"/>
                <a:ea typeface="Calibri" pitchFamily="34" charset="-122"/>
                <a:cs typeface="Calibri" pitchFamily="34" charset="-120"/>
              </a:rPr>
              <a:t>A disaster has no single cost - and the four costs do not move together.</a:t>
            </a:r>
            <a:endParaRPr lang="en-US" sz="1400" dirty="0"/>
          </a:p>
        </p:txBody>
      </p:sp>
      <p:sp>
        <p:nvSpPr>
          <p:cNvPr id="9" name="Shape 7"/>
          <p:cNvSpPr/>
          <p:nvPr/>
        </p:nvSpPr>
        <p:spPr>
          <a:xfrm>
            <a:off x="457200" y="2578608"/>
            <a:ext cx="1956816" cy="1243584"/>
          </a:xfrm>
          <a:prstGeom prst="roundRect">
            <a:avLst>
              <a:gd name="adj" fmla="val 4412"/>
            </a:avLst>
          </a:prstGeom>
          <a:solidFill>
            <a:srgbClr val="FFFFFF"/>
          </a:solidFill>
          <a:ln w="12700">
            <a:solidFill>
              <a:srgbClr val="E3E2DE"/>
            </a:solidFill>
            <a:prstDash val="solid"/>
          </a:ln>
        </p:spPr>
      </p:sp>
      <p:sp>
        <p:nvSpPr>
          <p:cNvPr id="10" name="Shape 8"/>
          <p:cNvSpPr/>
          <p:nvPr/>
        </p:nvSpPr>
        <p:spPr>
          <a:xfrm>
            <a:off x="658368" y="2761488"/>
            <a:ext cx="237744" cy="237744"/>
          </a:xfrm>
          <a:prstGeom prst="ellipse">
            <a:avLst/>
          </a:prstGeom>
          <a:solidFill>
            <a:srgbClr val="2A78D6"/>
          </a:solidFill>
          <a:ln w="12700">
            <a:solidFill>
              <a:srgbClr val="2A78D6"/>
            </a:solidFill>
            <a:prstDash val="solid"/>
          </a:ln>
        </p:spPr>
      </p:sp>
      <p:sp>
        <p:nvSpPr>
          <p:cNvPr id="11" name="Text 9"/>
          <p:cNvSpPr txBox="1"/>
          <p:nvPr/>
        </p:nvSpPr>
        <p:spPr>
          <a:xfrm>
            <a:off x="987552" y="2724912"/>
            <a:ext cx="1271016" cy="310896"/>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Counted</a:t>
            </a:r>
            <a:endParaRPr lang="en-US" sz="1500" dirty="0"/>
          </a:p>
        </p:txBody>
      </p:sp>
      <p:sp>
        <p:nvSpPr>
          <p:cNvPr id="12" name="Text 10"/>
          <p:cNvSpPr txBox="1"/>
          <p:nvPr/>
        </p:nvSpPr>
        <p:spPr>
          <a:xfrm>
            <a:off x="658368" y="3145536"/>
            <a:ext cx="1554480" cy="47548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15,015 events</a:t>
            </a:r>
            <a:endParaRPr lang="en-US" sz="1700" dirty="0"/>
          </a:p>
        </p:txBody>
      </p:sp>
      <p:sp>
        <p:nvSpPr>
          <p:cNvPr id="13" name="Shape 11"/>
          <p:cNvSpPr/>
          <p:nvPr/>
        </p:nvSpPr>
        <p:spPr>
          <a:xfrm>
            <a:off x="2679192" y="2578608"/>
            <a:ext cx="1956816" cy="1243584"/>
          </a:xfrm>
          <a:prstGeom prst="roundRect">
            <a:avLst>
              <a:gd name="adj" fmla="val 4412"/>
            </a:avLst>
          </a:prstGeom>
          <a:solidFill>
            <a:srgbClr val="FFFFFF"/>
          </a:solidFill>
          <a:ln w="12700">
            <a:solidFill>
              <a:srgbClr val="E3E2DE"/>
            </a:solidFill>
            <a:prstDash val="solid"/>
          </a:ln>
        </p:spPr>
      </p:sp>
      <p:sp>
        <p:nvSpPr>
          <p:cNvPr id="14" name="Shape 12"/>
          <p:cNvSpPr/>
          <p:nvPr/>
        </p:nvSpPr>
        <p:spPr>
          <a:xfrm>
            <a:off x="2880360" y="2761488"/>
            <a:ext cx="237744" cy="237744"/>
          </a:xfrm>
          <a:prstGeom prst="ellipse">
            <a:avLst/>
          </a:prstGeom>
          <a:solidFill>
            <a:srgbClr val="EB6834"/>
          </a:solidFill>
          <a:ln w="12700">
            <a:solidFill>
              <a:srgbClr val="EB6834"/>
            </a:solidFill>
            <a:prstDash val="solid"/>
          </a:ln>
        </p:spPr>
      </p:sp>
      <p:sp>
        <p:nvSpPr>
          <p:cNvPr id="15" name="Text 13"/>
          <p:cNvSpPr txBox="1"/>
          <p:nvPr/>
        </p:nvSpPr>
        <p:spPr>
          <a:xfrm>
            <a:off x="3209544" y="2724912"/>
            <a:ext cx="1271016" cy="310896"/>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Killed</a:t>
            </a:r>
            <a:endParaRPr lang="en-US" sz="1500" dirty="0"/>
          </a:p>
        </p:txBody>
      </p:sp>
      <p:sp>
        <p:nvSpPr>
          <p:cNvPr id="16" name="Text 14"/>
          <p:cNvSpPr txBox="1"/>
          <p:nvPr/>
        </p:nvSpPr>
        <p:spPr>
          <a:xfrm>
            <a:off x="2880360" y="3145536"/>
            <a:ext cx="1554480" cy="47548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22.9M deaths</a:t>
            </a:r>
            <a:endParaRPr lang="en-US" sz="1700" dirty="0"/>
          </a:p>
        </p:txBody>
      </p:sp>
      <p:sp>
        <p:nvSpPr>
          <p:cNvPr id="17" name="Shape 15"/>
          <p:cNvSpPr/>
          <p:nvPr/>
        </p:nvSpPr>
        <p:spPr>
          <a:xfrm>
            <a:off x="4901184" y="2578608"/>
            <a:ext cx="1956816" cy="1243584"/>
          </a:xfrm>
          <a:prstGeom prst="roundRect">
            <a:avLst>
              <a:gd name="adj" fmla="val 4412"/>
            </a:avLst>
          </a:prstGeom>
          <a:solidFill>
            <a:srgbClr val="FFFFFF"/>
          </a:solidFill>
          <a:ln w="12700">
            <a:solidFill>
              <a:srgbClr val="E3E2DE"/>
            </a:solidFill>
            <a:prstDash val="solid"/>
          </a:ln>
        </p:spPr>
      </p:sp>
      <p:sp>
        <p:nvSpPr>
          <p:cNvPr id="18" name="Shape 16"/>
          <p:cNvSpPr/>
          <p:nvPr/>
        </p:nvSpPr>
        <p:spPr>
          <a:xfrm>
            <a:off x="5102352" y="2761488"/>
            <a:ext cx="237744" cy="237744"/>
          </a:xfrm>
          <a:prstGeom prst="ellipse">
            <a:avLst/>
          </a:prstGeom>
          <a:solidFill>
            <a:srgbClr val="1BAF7A"/>
          </a:solidFill>
          <a:ln w="12700">
            <a:solidFill>
              <a:srgbClr val="1BAF7A"/>
            </a:solidFill>
            <a:prstDash val="solid"/>
          </a:ln>
        </p:spPr>
      </p:sp>
      <p:sp>
        <p:nvSpPr>
          <p:cNvPr id="19" name="Text 17"/>
          <p:cNvSpPr txBox="1"/>
          <p:nvPr/>
        </p:nvSpPr>
        <p:spPr>
          <a:xfrm>
            <a:off x="5431536" y="2724912"/>
            <a:ext cx="1271016" cy="310896"/>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Displaced</a:t>
            </a:r>
            <a:endParaRPr lang="en-US" sz="1500" dirty="0"/>
          </a:p>
        </p:txBody>
      </p:sp>
      <p:sp>
        <p:nvSpPr>
          <p:cNvPr id="20" name="Text 18"/>
          <p:cNvSpPr txBox="1"/>
          <p:nvPr/>
        </p:nvSpPr>
        <p:spPr>
          <a:xfrm>
            <a:off x="5102352" y="3145536"/>
            <a:ext cx="1554480" cy="47548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8.5B affected</a:t>
            </a:r>
            <a:endParaRPr lang="en-US" sz="1700" dirty="0"/>
          </a:p>
        </p:txBody>
      </p:sp>
      <p:sp>
        <p:nvSpPr>
          <p:cNvPr id="21" name="Shape 19"/>
          <p:cNvSpPr/>
          <p:nvPr/>
        </p:nvSpPr>
        <p:spPr>
          <a:xfrm>
            <a:off x="7123176" y="2578608"/>
            <a:ext cx="1956816" cy="1243584"/>
          </a:xfrm>
          <a:prstGeom prst="roundRect">
            <a:avLst>
              <a:gd name="adj" fmla="val 4412"/>
            </a:avLst>
          </a:prstGeom>
          <a:solidFill>
            <a:srgbClr val="FFFFFF"/>
          </a:solidFill>
          <a:ln w="12700">
            <a:solidFill>
              <a:srgbClr val="E3E2DE"/>
            </a:solidFill>
            <a:prstDash val="solid"/>
          </a:ln>
        </p:spPr>
      </p:sp>
      <p:sp>
        <p:nvSpPr>
          <p:cNvPr id="22" name="Shape 20"/>
          <p:cNvSpPr/>
          <p:nvPr/>
        </p:nvSpPr>
        <p:spPr>
          <a:xfrm>
            <a:off x="7324344" y="2761488"/>
            <a:ext cx="237744" cy="237744"/>
          </a:xfrm>
          <a:prstGeom prst="ellipse">
            <a:avLst/>
          </a:prstGeom>
          <a:solidFill>
            <a:srgbClr val="EDA100"/>
          </a:solidFill>
          <a:ln w="12700">
            <a:solidFill>
              <a:srgbClr val="EDA100"/>
            </a:solidFill>
            <a:prstDash val="solid"/>
          </a:ln>
        </p:spPr>
      </p:sp>
      <p:sp>
        <p:nvSpPr>
          <p:cNvPr id="23" name="Text 21"/>
          <p:cNvSpPr txBox="1"/>
          <p:nvPr/>
        </p:nvSpPr>
        <p:spPr>
          <a:xfrm>
            <a:off x="7653528" y="2724912"/>
            <a:ext cx="1271016" cy="310896"/>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Cost</a:t>
            </a:r>
            <a:endParaRPr lang="en-US" sz="1500" dirty="0"/>
          </a:p>
        </p:txBody>
      </p:sp>
      <p:sp>
        <p:nvSpPr>
          <p:cNvPr id="24" name="Text 22"/>
          <p:cNvSpPr txBox="1"/>
          <p:nvPr/>
        </p:nvSpPr>
        <p:spPr>
          <a:xfrm>
            <a:off x="7324344" y="3145536"/>
            <a:ext cx="1554480" cy="475488"/>
          </a:xfrm>
          <a:prstGeom prst="rect">
            <a:avLst/>
          </a:prstGeom>
          <a:noFill/>
          <a:ln/>
        </p:spPr>
        <p:txBody>
          <a:bodyPr wrap="square" lIns="0" tIns="0" rIns="0" bIns="0" rtlCol="0" anchor="ctr"/>
          <a:lstStyle/>
          <a:p>
            <a:pPr indent="0" marL="0">
              <a:buNone/>
            </a:pPr>
            <a:r>
              <a:rPr lang="en-US" sz="1700" b="1" dirty="0">
                <a:solidFill>
                  <a:srgbClr val="0B0B0B"/>
                </a:solidFill>
                <a:latin typeface="Calibri" pitchFamily="34" charset="0"/>
                <a:ea typeface="Calibri" pitchFamily="34" charset="-122"/>
                <a:cs typeface="Calibri" pitchFamily="34" charset="-120"/>
              </a:rPr>
              <a:t>$6.7T damage</a:t>
            </a:r>
            <a:endParaRPr lang="en-US" sz="1700" dirty="0"/>
          </a:p>
        </p:txBody>
      </p:sp>
      <p:sp>
        <p:nvSpPr>
          <p:cNvPr id="25" name="Text 23"/>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Three sub-questions, one per member - so no task is split across the team.</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Four things to fix before any chart</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sp>
        <p:nvSpPr>
          <p:cNvPr id="6" name="Shape 4"/>
          <p:cNvSpPr/>
          <p:nvPr/>
        </p:nvSpPr>
        <p:spPr>
          <a:xfrm>
            <a:off x="457200" y="1152144"/>
            <a:ext cx="310896" cy="310896"/>
          </a:xfrm>
          <a:prstGeom prst="ellipse">
            <a:avLst/>
          </a:prstGeom>
          <a:solidFill>
            <a:srgbClr val="2A78D6"/>
          </a:solidFill>
          <a:ln w="12700">
            <a:solidFill>
              <a:srgbClr val="2A78D6"/>
            </a:solidFill>
            <a:prstDash val="solid"/>
          </a:ln>
        </p:spPr>
      </p:sp>
      <p:sp>
        <p:nvSpPr>
          <p:cNvPr id="7" name="Text 5"/>
          <p:cNvSpPr txBox="1"/>
          <p:nvPr/>
        </p:nvSpPr>
        <p:spPr>
          <a:xfrm>
            <a:off x="457200" y="1152144"/>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96112" y="1115568"/>
            <a:ext cx="3886200" cy="29260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Semicolon-separated, comma decimals</a:t>
            </a:r>
            <a:endParaRPr lang="en-US" sz="1400" dirty="0"/>
          </a:p>
        </p:txBody>
      </p:sp>
      <p:sp>
        <p:nvSpPr>
          <p:cNvPr id="9" name="Text 7"/>
          <p:cNvSpPr txBox="1"/>
          <p:nvPr/>
        </p:nvSpPr>
        <p:spPr>
          <a:xfrm>
            <a:off x="896112" y="1399032"/>
            <a:ext cx="3886200" cy="402336"/>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read naively, every number arrives as text</a:t>
            </a:r>
            <a:endParaRPr lang="en-US" sz="1150" dirty="0"/>
          </a:p>
        </p:txBody>
      </p:sp>
      <p:sp>
        <p:nvSpPr>
          <p:cNvPr id="10" name="Shape 8"/>
          <p:cNvSpPr/>
          <p:nvPr/>
        </p:nvSpPr>
        <p:spPr>
          <a:xfrm>
            <a:off x="457200" y="1938528"/>
            <a:ext cx="310896" cy="310896"/>
          </a:xfrm>
          <a:prstGeom prst="ellipse">
            <a:avLst/>
          </a:prstGeom>
          <a:solidFill>
            <a:srgbClr val="2A78D6"/>
          </a:solidFill>
          <a:ln w="12700">
            <a:solidFill>
              <a:srgbClr val="2A78D6"/>
            </a:solidFill>
            <a:prstDash val="solid"/>
          </a:ln>
        </p:spPr>
      </p:sp>
      <p:sp>
        <p:nvSpPr>
          <p:cNvPr id="11" name="Text 9"/>
          <p:cNvSpPr txBox="1"/>
          <p:nvPr/>
        </p:nvSpPr>
        <p:spPr>
          <a:xfrm>
            <a:off x="457200" y="1938528"/>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896112" y="1901952"/>
            <a:ext cx="3886200" cy="29260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2023 is a part-year</a:t>
            </a:r>
            <a:endParaRPr lang="en-US" sz="1400" dirty="0"/>
          </a:p>
        </p:txBody>
      </p:sp>
      <p:sp>
        <p:nvSpPr>
          <p:cNvPr id="13" name="Text 11"/>
          <p:cNvSpPr txBox="1"/>
          <p:nvPr/>
        </p:nvSpPr>
        <p:spPr>
          <a:xfrm>
            <a:off x="896112" y="2185416"/>
            <a:ext cx="3886200" cy="402336"/>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51 rows dropped, or every trend fakes a collapse</a:t>
            </a:r>
            <a:endParaRPr lang="en-US" sz="1150" dirty="0"/>
          </a:p>
        </p:txBody>
      </p:sp>
      <p:sp>
        <p:nvSpPr>
          <p:cNvPr id="14" name="Shape 12"/>
          <p:cNvSpPr/>
          <p:nvPr/>
        </p:nvSpPr>
        <p:spPr>
          <a:xfrm>
            <a:off x="457200" y="2724912"/>
            <a:ext cx="310896" cy="310896"/>
          </a:xfrm>
          <a:prstGeom prst="ellipse">
            <a:avLst/>
          </a:prstGeom>
          <a:solidFill>
            <a:srgbClr val="2A78D6"/>
          </a:solidFill>
          <a:ln w="12700">
            <a:solidFill>
              <a:srgbClr val="2A78D6"/>
            </a:solidFill>
            <a:prstDash val="solid"/>
          </a:ln>
        </p:spPr>
      </p:sp>
      <p:sp>
        <p:nvSpPr>
          <p:cNvPr id="15" name="Text 13"/>
          <p:cNvSpPr txBox="1"/>
          <p:nvPr/>
        </p:nvSpPr>
        <p:spPr>
          <a:xfrm>
            <a:off x="457200" y="2724912"/>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6" name="Text 14"/>
          <p:cNvSpPr txBox="1"/>
          <p:nvPr/>
        </p:nvSpPr>
        <p:spPr>
          <a:xfrm>
            <a:off x="896112" y="2688336"/>
            <a:ext cx="3886200" cy="29260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Trailing spaces in hazard labels</a:t>
            </a:r>
            <a:endParaRPr lang="en-US" sz="1400" dirty="0"/>
          </a:p>
        </p:txBody>
      </p:sp>
      <p:sp>
        <p:nvSpPr>
          <p:cNvPr id="17" name="Text 15"/>
          <p:cNvSpPr txBox="1"/>
          <p:nvPr/>
        </p:nvSpPr>
        <p:spPr>
          <a:xfrm>
            <a:off x="896112" y="2971800"/>
            <a:ext cx="3886200" cy="402336"/>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"Extreme temperature " split one category in two</a:t>
            </a:r>
            <a:endParaRPr lang="en-US" sz="1150" dirty="0"/>
          </a:p>
        </p:txBody>
      </p:sp>
      <p:sp>
        <p:nvSpPr>
          <p:cNvPr id="18" name="Shape 16"/>
          <p:cNvSpPr/>
          <p:nvPr/>
        </p:nvSpPr>
        <p:spPr>
          <a:xfrm>
            <a:off x="457200" y="3511296"/>
            <a:ext cx="310896" cy="310896"/>
          </a:xfrm>
          <a:prstGeom prst="ellipse">
            <a:avLst/>
          </a:prstGeom>
          <a:solidFill>
            <a:srgbClr val="2A78D6"/>
          </a:solidFill>
          <a:ln w="12700">
            <a:solidFill>
              <a:srgbClr val="2A78D6"/>
            </a:solidFill>
            <a:prstDash val="solid"/>
          </a:ln>
        </p:spPr>
      </p:sp>
      <p:sp>
        <p:nvSpPr>
          <p:cNvPr id="19" name="Text 17"/>
          <p:cNvSpPr txBox="1"/>
          <p:nvPr/>
        </p:nvSpPr>
        <p:spPr>
          <a:xfrm>
            <a:off x="457200" y="3511296"/>
            <a:ext cx="310896" cy="31089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0" name="Text 18"/>
          <p:cNvSpPr txBox="1"/>
          <p:nvPr/>
        </p:nvSpPr>
        <p:spPr>
          <a:xfrm>
            <a:off x="896112" y="3474720"/>
            <a:ext cx="3886200" cy="292608"/>
          </a:xfrm>
          <a:prstGeom prst="rect">
            <a:avLst/>
          </a:prstGeom>
          <a:noFill/>
          <a:ln/>
        </p:spPr>
        <p:txBody>
          <a:bodyPr wrap="square" lIns="0" tIns="0" rIns="0" bIns="0" rtlCol="0" anchor="ctr"/>
          <a:lstStyle/>
          <a:p>
            <a:pPr indent="0" marL="0">
              <a:buNone/>
            </a:pPr>
            <a:r>
              <a:rPr lang="en-US" sz="1400" b="1" dirty="0">
                <a:solidFill>
                  <a:srgbClr val="0B0B0B"/>
                </a:solidFill>
                <a:latin typeface="Calibri" pitchFamily="34" charset="0"/>
                <a:ea typeface="Calibri" pitchFamily="34" charset="-122"/>
                <a:cs typeface="Calibri" pitchFamily="34" charset="-120"/>
              </a:rPr>
              <a:t>Missing impacts kept as missing</a:t>
            </a:r>
            <a:endParaRPr lang="en-US" sz="1400" dirty="0"/>
          </a:p>
        </p:txBody>
      </p:sp>
      <p:sp>
        <p:nvSpPr>
          <p:cNvPr id="21" name="Text 19"/>
          <p:cNvSpPr txBox="1"/>
          <p:nvPr/>
        </p:nvSpPr>
        <p:spPr>
          <a:xfrm>
            <a:off x="896112" y="3758184"/>
            <a:ext cx="3886200" cy="402336"/>
          </a:xfrm>
          <a:prstGeom prst="rect">
            <a:avLst/>
          </a:prstGeom>
          <a:noFill/>
          <a:ln/>
        </p:spPr>
        <p:txBody>
          <a:bodyPr wrap="square" lIns="0" tIns="0" rIns="0" bIns="0" rtlCol="0" anchor="ctr"/>
          <a:lstStyle/>
          <a:p>
            <a:pPr indent="0" marL="0">
              <a:buNone/>
            </a:pPr>
            <a:r>
              <a:rPr lang="en-US" sz="1150" dirty="0">
                <a:solidFill>
                  <a:srgbClr val="52514E"/>
                </a:solidFill>
                <a:latin typeface="Calibri" pitchFamily="34" charset="0"/>
                <a:ea typeface="Calibri" pitchFamily="34" charset="-122"/>
                <a:cs typeface="Calibri" pitchFamily="34" charset="-120"/>
              </a:rPr>
              <a:t>zero-filling would flatter every historical decade</a:t>
            </a:r>
            <a:endParaRPr lang="en-US" sz="1150" dirty="0"/>
          </a:p>
        </p:txBody>
      </p:sp>
      <p:pic>
        <p:nvPicPr>
          <p:cNvPr id="22" name="Image 0" descr="C:\Users\kalpi\Downloads\DAS732_A1_Submission\images\Fig2.png">    </p:cNvPr>
          <p:cNvPicPr>
            <a:picLocks noChangeAspect="1"/>
          </p:cNvPicPr>
          <p:nvPr/>
        </p:nvPicPr>
        <p:blipFill>
          <a:blip r:embed="rId1"/>
          <a:stretch>
            <a:fillRect/>
          </a:stretch>
        </p:blipFill>
        <p:spPr>
          <a:xfrm>
            <a:off x="4956048" y="1494644"/>
            <a:ext cx="3730752" cy="1902751"/>
          </a:xfrm>
          <a:prstGeom prst="rect">
            <a:avLst/>
          </a:prstGeom>
        </p:spPr>
      </p:pic>
      <p:sp>
        <p:nvSpPr>
          <p:cNvPr id="23" name="Text 20"/>
          <p:cNvSpPr txBox="1"/>
          <p:nvPr/>
        </p:nvSpPr>
        <p:spPr>
          <a:xfrm>
            <a:off x="4956048" y="3913632"/>
            <a:ext cx="3730752" cy="274320"/>
          </a:xfrm>
          <a:prstGeom prst="rect">
            <a:avLst/>
          </a:prstGeom>
          <a:noFill/>
          <a:ln/>
        </p:spPr>
        <p:txBody>
          <a:bodyPr wrap="square" lIns="0" tIns="0" rIns="0" bIns="0" rtlCol="0" anchor="ctr"/>
          <a:lstStyle/>
          <a:p>
            <a:pPr algn="ctr" indent="0" marL="0">
              <a:buNone/>
            </a:pPr>
            <a:r>
              <a:rPr lang="en-US" sz="1100" b="1" dirty="0">
                <a:solidFill>
                  <a:srgbClr val="52514E"/>
                </a:solidFill>
                <a:latin typeface="Calibri" pitchFamily="34" charset="0"/>
                <a:ea typeface="Calibri" pitchFamily="34" charset="-122"/>
                <a:cs typeface="Calibri" pitchFamily="34" charset="-120"/>
              </a:rPr>
              <a:t>10,431 rows  -&gt;  10,380 rows  ·  15,015 events  ·  225 countries</a:t>
            </a:r>
            <a:endParaRPr lang="en-US" sz="1100" dirty="0"/>
          </a:p>
        </p:txBody>
      </p:sp>
      <p:sp>
        <p:nvSpPr>
          <p:cNvPr id="24" name="Text 21"/>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One cleaning module feeds all 15 charts, so no two figures can disagree.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One question, three owned task sets, fifteen charts</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52514E"/>
          </a:solidFill>
          <a:ln w="12700">
            <a:solidFill>
              <a:srgbClr val="52514E"/>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All three</a:t>
            </a:r>
            <a:endParaRPr lang="en-US" sz="1100" dirty="0"/>
          </a:p>
        </p:txBody>
      </p:sp>
      <p:pic>
        <p:nvPicPr>
          <p:cNvPr id="6" name="Image 0" descr="C:\Users\kalpi\Downloads\DAS732_A1_Submission\images\Fig1.png">    </p:cNvPr>
          <p:cNvPicPr>
            <a:picLocks noChangeAspect="1"/>
          </p:cNvPicPr>
          <p:nvPr/>
        </p:nvPicPr>
        <p:blipFill>
          <a:blip r:embed="rId1"/>
          <a:stretch>
            <a:fillRect/>
          </a:stretch>
        </p:blipFill>
        <p:spPr>
          <a:xfrm>
            <a:off x="1530739" y="932688"/>
            <a:ext cx="6082523" cy="352044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The record explodes after 1970</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pic>
        <p:nvPicPr>
          <p:cNvPr id="6" name="Image 0" descr="C:\Users\kalpi\Downloads\DAS732_A1_Submission\images\Fig4.png">    </p:cNvPr>
          <p:cNvPicPr>
            <a:picLocks noChangeAspect="1"/>
          </p:cNvPicPr>
          <p:nvPr/>
        </p:nvPicPr>
        <p:blipFill>
          <a:blip r:embed="rId1"/>
          <a:stretch>
            <a:fillRect/>
          </a:stretch>
        </p:blipFill>
        <p:spPr>
          <a:xfrm>
            <a:off x="1788662" y="987552"/>
            <a:ext cx="5566675"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That shape is also exactly what a step-change in data collection looks like.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...but it is partly a count of reporting</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pic>
        <p:nvPicPr>
          <p:cNvPr id="6" name="Image 0" descr="C:\Users\kalpi\Downloads\DAS732_A1_Submission\images\Fig5.png">    </p:cNvPr>
          <p:cNvPicPr>
            <a:picLocks noChangeAspect="1"/>
          </p:cNvPicPr>
          <p:nvPr/>
        </p:nvPicPr>
        <p:blipFill>
          <a:blip r:embed="rId1"/>
          <a:stretch>
            <a:fillRect/>
          </a:stretch>
        </p:blipFill>
        <p:spPr>
          <a:xfrm>
            <a:off x="1047703" y="987552"/>
            <a:ext cx="7048594"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91% of the record sits in 43% of the years. So we use rates, not counts, from here on.</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Deaths per recorded event fell 99.4%</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pic>
        <p:nvPicPr>
          <p:cNvPr id="6" name="Image 0" descr="C:\Users\kalpi\Downloads\DAS732_A1_Submission\images\Fig6.png">    </p:cNvPr>
          <p:cNvPicPr>
            <a:picLocks noChangeAspect="1"/>
          </p:cNvPicPr>
          <p:nvPr/>
        </p:nvPicPr>
        <p:blipFill>
          <a:blip r:embed="rId1"/>
          <a:stretch>
            <a:fillRect/>
          </a:stretch>
        </p:blipFill>
        <p:spPr>
          <a:xfrm>
            <a:off x="2284573" y="987552"/>
            <a:ext cx="4574853"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Two panels, never a twin axis - a twin axis lets the author pick the crossing point.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Then we tried to break our own finding</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2A78D6"/>
          </a:solidFill>
          <a:ln w="12700">
            <a:solidFill>
              <a:srgbClr val="2A78D6"/>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Lakshya Jain</a:t>
            </a:r>
            <a:endParaRPr lang="en-US" sz="1100" dirty="0"/>
          </a:p>
        </p:txBody>
      </p:sp>
      <p:pic>
        <p:nvPicPr>
          <p:cNvPr id="6" name="Image 0" descr="C:\Users\kalpi\Downloads\DAS732_A1_Submission\images\Fig7.png">    </p:cNvPr>
          <p:cNvPicPr>
            <a:picLocks noChangeAspect="1"/>
          </p:cNvPicPr>
          <p:nvPr/>
        </p:nvPicPr>
        <p:blipFill>
          <a:blip r:embed="rId1"/>
          <a:stretch>
            <a:fillRect/>
          </a:stretch>
        </p:blipFill>
        <p:spPr>
          <a:xfrm>
            <a:off x="1453089" y="987552"/>
            <a:ext cx="6237823"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Strip each decade's three deadliest records and the decline vanishes entirely.</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Disasters are global. Death is not.</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B6834"/>
          </a:solidFill>
          <a:ln w="12700">
            <a:solidFill>
              <a:srgbClr val="EB6834"/>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Arnav Jain</a:t>
            </a:r>
            <a:endParaRPr lang="en-US" sz="1100" dirty="0"/>
          </a:p>
        </p:txBody>
      </p:sp>
      <p:pic>
        <p:nvPicPr>
          <p:cNvPr id="6" name="Image 0" descr="C:\Users\kalpi\Downloads\DAS732_A1_Submission\images\Fig8.png">    </p:cNvPr>
          <p:cNvPicPr>
            <a:picLocks noChangeAspect="1"/>
          </p:cNvPicPr>
          <p:nvPr/>
        </p:nvPicPr>
        <p:blipFill>
          <a:blip r:embed="rId1"/>
          <a:stretch>
            <a:fillRect/>
          </a:stretch>
        </p:blipFill>
        <p:spPr>
          <a:xfrm>
            <a:off x="201168" y="1004011"/>
            <a:ext cx="4334256" cy="2600554"/>
          </a:xfrm>
          <a:prstGeom prst="rect">
            <a:avLst/>
          </a:prstGeom>
        </p:spPr>
      </p:pic>
      <p:pic>
        <p:nvPicPr>
          <p:cNvPr id="7" name="Image 1" descr="C:\Users\kalpi\Downloads\DAS732_A1_Submission\images\Fig9.png">    </p:cNvPr>
          <p:cNvPicPr>
            <a:picLocks noChangeAspect="1"/>
          </p:cNvPicPr>
          <p:nvPr/>
        </p:nvPicPr>
        <p:blipFill>
          <a:blip r:embed="rId2"/>
          <a:stretch>
            <a:fillRect/>
          </a:stretch>
        </p:blipFill>
        <p:spPr>
          <a:xfrm>
            <a:off x="4608576" y="1004011"/>
            <a:ext cx="4334256" cy="2600554"/>
          </a:xfrm>
          <a:prstGeom prst="rect">
            <a:avLst/>
          </a:prstGeom>
        </p:spPr>
      </p:pic>
      <p:sp>
        <p:nvSpPr>
          <p:cNvPr id="8" name="Text 4"/>
          <p:cNvSpPr txBox="1"/>
          <p:nvPr/>
        </p:nvSpPr>
        <p:spPr>
          <a:xfrm>
            <a:off x="201168" y="3730752"/>
            <a:ext cx="4334256" cy="274320"/>
          </a:xfrm>
          <a:prstGeom prst="rect">
            <a:avLst/>
          </a:prstGeom>
          <a:noFill/>
          <a:ln/>
        </p:spPr>
        <p:txBody>
          <a:bodyPr wrap="square" lIns="0" tIns="0" rIns="0" bIns="0" rtlCol="0" anchor="ctr"/>
          <a:lstStyle/>
          <a:p>
            <a:pPr algn="ctr" indent="0" marL="0">
              <a:buNone/>
            </a:pPr>
            <a:r>
              <a:rPr lang="en-US" sz="1350" b="1" dirty="0">
                <a:solidFill>
                  <a:srgbClr val="0B0B0B"/>
                </a:solidFill>
                <a:latin typeface="Calibri" pitchFamily="34" charset="0"/>
                <a:ea typeface="Calibri" pitchFamily="34" charset="-122"/>
                <a:cs typeface="Calibri" pitchFamily="34" charset="-120"/>
              </a:rPr>
              <a:t>All 225 countries appear</a:t>
            </a:r>
            <a:endParaRPr lang="en-US" sz="1350" dirty="0"/>
          </a:p>
        </p:txBody>
      </p:sp>
      <p:sp>
        <p:nvSpPr>
          <p:cNvPr id="9" name="Text 5"/>
          <p:cNvSpPr txBox="1"/>
          <p:nvPr/>
        </p:nvSpPr>
        <p:spPr>
          <a:xfrm>
            <a:off x="4608576" y="3730752"/>
            <a:ext cx="4334256" cy="274320"/>
          </a:xfrm>
          <a:prstGeom prst="rect">
            <a:avLst/>
          </a:prstGeom>
          <a:noFill/>
          <a:ln/>
        </p:spPr>
        <p:txBody>
          <a:bodyPr wrap="square" lIns="0" tIns="0" rIns="0" bIns="0" rtlCol="0" anchor="ctr"/>
          <a:lstStyle/>
          <a:p>
            <a:pPr algn="ctr" indent="0" marL="0">
              <a:buNone/>
            </a:pPr>
            <a:r>
              <a:rPr lang="en-US" sz="1350" b="1" dirty="0">
                <a:solidFill>
                  <a:srgbClr val="0B0B0B"/>
                </a:solidFill>
                <a:latin typeface="Calibri" pitchFamily="34" charset="0"/>
                <a:ea typeface="Calibri" pitchFamily="34" charset="-122"/>
                <a:cs typeface="Calibri" pitchFamily="34" charset="-120"/>
              </a:rPr>
              <a:t>China + India = 68% of all deaths</a:t>
            </a:r>
            <a:endParaRPr lang="en-US" sz="1350" dirty="0"/>
          </a:p>
        </p:txBody>
      </p:sp>
      <p:sp>
        <p:nvSpPr>
          <p:cNvPr id="10" name="Shape 6"/>
          <p:cNvSpPr/>
          <p:nvPr/>
        </p:nvSpPr>
        <p:spPr>
          <a:xfrm>
            <a:off x="2331720" y="4133088"/>
            <a:ext cx="3566160" cy="347472"/>
          </a:xfrm>
          <a:prstGeom prst="roundRect">
            <a:avLst>
              <a:gd name="adj" fmla="val 50000"/>
            </a:avLst>
          </a:prstGeom>
          <a:solidFill>
            <a:srgbClr val="10243E"/>
          </a:solidFill>
          <a:ln w="12700">
            <a:solidFill>
              <a:srgbClr val="10243E"/>
            </a:solidFill>
            <a:prstDash val="solid"/>
          </a:ln>
        </p:spPr>
      </p:sp>
      <p:sp>
        <p:nvSpPr>
          <p:cNvPr id="11" name="Text 7"/>
          <p:cNvSpPr txBox="1"/>
          <p:nvPr/>
        </p:nvSpPr>
        <p:spPr>
          <a:xfrm>
            <a:off x="2331720" y="4133088"/>
            <a:ext cx="3566160" cy="347472"/>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LIVE IN TABLEAU: switch the map here</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Four measures, four different leaderboards</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B6834"/>
          </a:solidFill>
          <a:ln w="12700">
            <a:solidFill>
              <a:srgbClr val="EB6834"/>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Arnav Jain</a:t>
            </a:r>
            <a:endParaRPr lang="en-US" sz="1100" dirty="0"/>
          </a:p>
        </p:txBody>
      </p:sp>
      <p:pic>
        <p:nvPicPr>
          <p:cNvPr id="6" name="Image 0" descr="C:\Users\kalpi\Downloads\DAS732_A1_Submission\images\Fig10.png">    </p:cNvPr>
          <p:cNvPicPr>
            <a:picLocks noChangeAspect="1"/>
          </p:cNvPicPr>
          <p:nvPr/>
        </p:nvPicPr>
        <p:blipFill>
          <a:blip r:embed="rId1"/>
          <a:stretch>
            <a:fillRect/>
          </a:stretch>
        </p:blipFill>
        <p:spPr>
          <a:xfrm>
            <a:off x="2081354" y="987552"/>
            <a:ext cx="4981293"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The US is 1st for events and 1st for damage - and 23rd for deaths.</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Two countries hold half of all deaths</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B6834"/>
          </a:solidFill>
          <a:ln w="12700">
            <a:solidFill>
              <a:srgbClr val="EB6834"/>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Arnav Jain</a:t>
            </a:r>
            <a:endParaRPr lang="en-US" sz="1100" dirty="0"/>
          </a:p>
        </p:txBody>
      </p:sp>
      <p:pic>
        <p:nvPicPr>
          <p:cNvPr id="6" name="Image 0" descr="C:\Users\kalpi\Downloads\DAS732_A1_Submission\images\Fig11.png">    </p:cNvPr>
          <p:cNvPicPr>
            <a:picLocks noChangeAspect="1"/>
          </p:cNvPicPr>
          <p:nvPr/>
        </p:nvPicPr>
        <p:blipFill>
          <a:blip r:embed="rId1"/>
          <a:stretch>
            <a:fillRect/>
          </a:stretch>
        </p:blipFill>
        <p:spPr>
          <a:xfrm>
            <a:off x="1780688" y="987552"/>
            <a:ext cx="5582623"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But it takes twenty countries to reach half of all recorded events.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Same exposure, 1,000x the lethality</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B6834"/>
          </a:solidFill>
          <a:ln w="12700">
            <a:solidFill>
              <a:srgbClr val="EB6834"/>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Arnav Jain</a:t>
            </a:r>
            <a:endParaRPr lang="en-US" sz="1100" dirty="0"/>
          </a:p>
        </p:txBody>
      </p:sp>
      <p:pic>
        <p:nvPicPr>
          <p:cNvPr id="6" name="Image 0" descr="C:\Users\kalpi\Downloads\DAS732_A1_Submission\images\Fig12.png">    </p:cNvPr>
          <p:cNvPicPr>
            <a:picLocks noChangeAspect="1"/>
          </p:cNvPicPr>
          <p:nvPr/>
        </p:nvPicPr>
        <p:blipFill>
          <a:blip r:embed="rId1"/>
          <a:stretch>
            <a:fillRect/>
          </a:stretch>
        </p:blipFill>
        <p:spPr>
          <a:xfrm>
            <a:off x="2140519" y="987552"/>
            <a:ext cx="4862962"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China 11,139 deaths per event; Australia 11. That gap is not hazard - it is vulnerability.</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5% of events. 51% of deaths.</a:t>
            </a:r>
            <a:endParaRPr lang="en-US" sz="2500" dirty="0"/>
          </a:p>
        </p:txBody>
      </p:sp>
      <p:sp>
        <p:nvSpPr>
          <p:cNvPr id="3" name="Text 1"/>
          <p:cNvSpPr txBox="1"/>
          <p:nvPr/>
        </p:nvSpPr>
        <p:spPr>
          <a:xfrm>
            <a:off x="457200" y="822960"/>
            <a:ext cx="8229600" cy="310896"/>
          </a:xfrm>
          <a:prstGeom prst="rect">
            <a:avLst/>
          </a:prstGeom>
          <a:noFill/>
          <a:ln/>
        </p:spPr>
        <p:txBody>
          <a:bodyPr wrap="square" lIns="0" tIns="0" rIns="0" bIns="0" rtlCol="0" anchor="ctr"/>
          <a:lstStyle/>
          <a:p>
            <a:pPr indent="0" marL="0">
              <a:buNone/>
            </a:pPr>
            <a:r>
              <a:rPr lang="en-US" sz="1300" dirty="0">
                <a:solidFill>
                  <a:srgbClr val="52514E"/>
                </a:solidFill>
                <a:latin typeface="Calibri" pitchFamily="34" charset="0"/>
                <a:ea typeface="Calibri" pitchFamily="34" charset="-122"/>
                <a:cs typeface="Calibri" pitchFamily="34" charset="-120"/>
              </a:rPr>
              <a:t>Four bars, the same seven hazards, the same colour order.</a:t>
            </a:r>
            <a:endParaRPr lang="en-US" sz="1300" dirty="0"/>
          </a:p>
        </p:txBody>
      </p:sp>
      <p:sp>
        <p:nvSpPr>
          <p:cNvPr id="4" name="Shape 2"/>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5" name="Shape 3"/>
          <p:cNvSpPr/>
          <p:nvPr/>
        </p:nvSpPr>
        <p:spPr>
          <a:xfrm>
            <a:off x="6967728" y="4585716"/>
            <a:ext cx="118872" cy="118872"/>
          </a:xfrm>
          <a:prstGeom prst="ellipse">
            <a:avLst/>
          </a:prstGeom>
          <a:solidFill>
            <a:srgbClr val="EDA100"/>
          </a:solidFill>
          <a:ln w="12700">
            <a:solidFill>
              <a:srgbClr val="EDA100"/>
            </a:solidFill>
            <a:prstDash val="solid"/>
          </a:ln>
        </p:spPr>
      </p:sp>
      <p:sp>
        <p:nvSpPr>
          <p:cNvPr id="6" name="Text 4"/>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Kalpit</a:t>
            </a:r>
            <a:endParaRPr lang="en-US" sz="1100" dirty="0"/>
          </a:p>
        </p:txBody>
      </p:sp>
      <p:pic>
        <p:nvPicPr>
          <p:cNvPr id="7" name="Image 0" descr="C:\Users\kalpi\Downloads\DAS732_A1_Submission\images\Fig13.png">    </p:cNvPr>
          <p:cNvPicPr>
            <a:picLocks noChangeAspect="1"/>
          </p:cNvPicPr>
          <p:nvPr/>
        </p:nvPicPr>
        <p:blipFill>
          <a:blip r:embed="rId1"/>
          <a:stretch>
            <a:fillRect/>
          </a:stretch>
        </p:blipFill>
        <p:spPr>
          <a:xfrm>
            <a:off x="599332" y="1207008"/>
            <a:ext cx="7945336" cy="3223260"/>
          </a:xfrm>
          <a:prstGeom prst="rect">
            <a:avLst/>
          </a:prstGeom>
        </p:spPr>
      </p:pic>
      <p:sp>
        <p:nvSpPr>
          <p:cNvPr id="8" name="Text 5"/>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Drought kills, storms cost, floods displace - they are different hazards.</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Deadly and costly are different hazards</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DA100"/>
          </a:solidFill>
          <a:ln w="12700">
            <a:solidFill>
              <a:srgbClr val="EDA100"/>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Kalpit</a:t>
            </a:r>
            <a:endParaRPr lang="en-US" sz="1100" dirty="0"/>
          </a:p>
        </p:txBody>
      </p:sp>
      <p:pic>
        <p:nvPicPr>
          <p:cNvPr id="6" name="Image 0" descr="C:\Users\kalpi\Downloads\DAS732_A1_Submission\images\Fig14.png">    </p:cNvPr>
          <p:cNvPicPr>
            <a:picLocks noChangeAspect="1"/>
          </p:cNvPicPr>
          <p:nvPr/>
        </p:nvPicPr>
        <p:blipFill>
          <a:blip r:embed="rId1"/>
          <a:stretch>
            <a:fillRect/>
          </a:stretch>
        </p:blipFill>
        <p:spPr>
          <a:xfrm>
            <a:off x="2083726" y="987552"/>
            <a:ext cx="4976548"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Drought: 143 deaths per record. Wildfire: $250M and a median of 7 deaths.</a:t>
            </a:r>
            <a:endParaRPr lang="en-US" sz="13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$2.07 trillion - the costliest decade yet</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DA100"/>
          </a:solidFill>
          <a:ln w="12700">
            <a:solidFill>
              <a:srgbClr val="EDA100"/>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Kalpit</a:t>
            </a:r>
            <a:endParaRPr lang="en-US" sz="1100" dirty="0"/>
          </a:p>
        </p:txBody>
      </p:sp>
      <p:pic>
        <p:nvPicPr>
          <p:cNvPr id="6" name="Image 0" descr="C:\Users\kalpi\Downloads\DAS732_A1_Submission\images\Fig15.png">    </p:cNvPr>
          <p:cNvPicPr>
            <a:picLocks noChangeAspect="1"/>
          </p:cNvPicPr>
          <p:nvPr/>
        </p:nvPicPr>
        <p:blipFill>
          <a:blip r:embed="rId1"/>
          <a:stretch>
            <a:fillRect/>
          </a:stretch>
        </p:blipFill>
        <p:spPr>
          <a:xfrm>
            <a:off x="1648049" y="987552"/>
            <a:ext cx="5847901"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Damage coverage does not improve after 1970, so this rise is not a reporting artefact.</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Which hazards became survivable?</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DA100"/>
          </a:solidFill>
          <a:ln w="12700">
            <a:solidFill>
              <a:srgbClr val="EDA100"/>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Kalpit</a:t>
            </a:r>
            <a:endParaRPr lang="en-US" sz="1100" dirty="0"/>
          </a:p>
        </p:txBody>
      </p:sp>
      <p:pic>
        <p:nvPicPr>
          <p:cNvPr id="6" name="Image 0" descr="C:\Users\kalpi\Downloads\DAS732_A1_Submission\images\Fig16.png">    </p:cNvPr>
          <p:cNvPicPr>
            <a:picLocks noChangeAspect="1"/>
          </p:cNvPicPr>
          <p:nvPr/>
        </p:nvPicPr>
        <p:blipFill>
          <a:blip r:embed="rId1"/>
          <a:stretch>
            <a:fillRect/>
          </a:stretch>
        </p:blipFill>
        <p:spPr>
          <a:xfrm>
            <a:off x="1229442" y="987552"/>
            <a:ext cx="6685116"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Drought 29,051 -&gt; 53. Earthquakes never improved. Extreme heat went the wrong way.</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Text 0"/>
          <p:cNvSpPr txBox="1"/>
          <p:nvPr/>
        </p:nvSpPr>
        <p:spPr>
          <a:xfrm>
            <a:off x="457200" y="237744"/>
            <a:ext cx="8229600" cy="585216"/>
          </a:xfrm>
          <a:prstGeom prst="rect">
            <a:avLst/>
          </a:prstGeom>
          <a:noFill/>
          <a:ln/>
        </p:spPr>
        <p:txBody>
          <a:bodyPr wrap="square" lIns="0" tIns="0" rIns="0" bIns="0" rtlCol="0" anchor="ctr"/>
          <a:lstStyle/>
          <a:p>
            <a:pPr indent="0" marL="0">
              <a:buNone/>
            </a:pPr>
            <a:r>
              <a:rPr lang="en-US" sz="2500" b="1" dirty="0">
                <a:solidFill>
                  <a:srgbClr val="0B0B0B"/>
                </a:solidFill>
                <a:latin typeface="Calibri" pitchFamily="34" charset="0"/>
                <a:ea typeface="Calibri" pitchFamily="34" charset="-122"/>
                <a:cs typeface="Calibri" pitchFamily="34" charset="-120"/>
              </a:rPr>
              <a:t>Costs rose. Deaths did not follow.</a:t>
            </a:r>
            <a:endParaRPr lang="en-US" sz="2500" dirty="0"/>
          </a:p>
        </p:txBody>
      </p:sp>
      <p:sp>
        <p:nvSpPr>
          <p:cNvPr id="3" name="Shape 1"/>
          <p:cNvSpPr/>
          <p:nvPr/>
        </p:nvSpPr>
        <p:spPr>
          <a:xfrm>
            <a:off x="6812280" y="4485132"/>
            <a:ext cx="1874520" cy="310896"/>
          </a:xfrm>
          <a:prstGeom prst="roundRect">
            <a:avLst>
              <a:gd name="adj" fmla="val 50000"/>
            </a:avLst>
          </a:prstGeom>
          <a:solidFill>
            <a:srgbClr val="10243E"/>
          </a:solidFill>
          <a:ln w="12700">
            <a:solidFill>
              <a:srgbClr val="10243E"/>
            </a:solidFill>
            <a:prstDash val="solid"/>
          </a:ln>
        </p:spPr>
      </p:sp>
      <p:sp>
        <p:nvSpPr>
          <p:cNvPr id="4" name="Shape 2"/>
          <p:cNvSpPr/>
          <p:nvPr/>
        </p:nvSpPr>
        <p:spPr>
          <a:xfrm>
            <a:off x="6967728" y="4585716"/>
            <a:ext cx="118872" cy="118872"/>
          </a:xfrm>
          <a:prstGeom prst="ellipse">
            <a:avLst/>
          </a:prstGeom>
          <a:solidFill>
            <a:srgbClr val="EDA100"/>
          </a:solidFill>
          <a:ln w="12700">
            <a:solidFill>
              <a:srgbClr val="EDA100"/>
            </a:solidFill>
            <a:prstDash val="solid"/>
          </a:ln>
        </p:spPr>
      </p:sp>
      <p:sp>
        <p:nvSpPr>
          <p:cNvPr id="5" name="Text 3"/>
          <p:cNvSpPr txBox="1"/>
          <p:nvPr/>
        </p:nvSpPr>
        <p:spPr>
          <a:xfrm>
            <a:off x="7141464" y="4485132"/>
            <a:ext cx="1417320"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Kalpit</a:t>
            </a:r>
            <a:endParaRPr lang="en-US" sz="1100" dirty="0"/>
          </a:p>
        </p:txBody>
      </p:sp>
      <p:pic>
        <p:nvPicPr>
          <p:cNvPr id="6" name="Image 0" descr="C:\Users\kalpi\Downloads\DAS732_A1_Submission\images\Fig17.png">    </p:cNvPr>
          <p:cNvPicPr>
            <a:picLocks noChangeAspect="1"/>
          </p:cNvPicPr>
          <p:nvPr/>
        </p:nvPicPr>
        <p:blipFill>
          <a:blip r:embed="rId1"/>
          <a:stretch>
            <a:fillRect/>
          </a:stretch>
        </p:blipFill>
        <p:spPr>
          <a:xfrm>
            <a:off x="1786193" y="987552"/>
            <a:ext cx="5571614" cy="3442716"/>
          </a:xfrm>
          <a:prstGeom prst="rect">
            <a:avLst/>
          </a:prstGeom>
        </p:spPr>
      </p:pic>
      <p:sp>
        <p:nvSpPr>
          <p:cNvPr id="7" name="Text 4"/>
          <p:cNvSpPr txBox="1"/>
          <p:nvPr/>
        </p:nvSpPr>
        <p:spPr>
          <a:xfrm>
            <a:off x="457200" y="4485132"/>
            <a:ext cx="6172200" cy="329184"/>
          </a:xfrm>
          <a:prstGeom prst="rect">
            <a:avLst/>
          </a:prstGeom>
          <a:noFill/>
          <a:ln/>
        </p:spPr>
        <p:txBody>
          <a:bodyPr wrap="square" lIns="0" tIns="0" rIns="0" bIns="0" rtlCol="0" anchor="ctr"/>
          <a:lstStyle/>
          <a:p>
            <a:pPr indent="0" marL="0">
              <a:buNone/>
            </a:pPr>
            <a:r>
              <a:rPr lang="en-US" sz="1300" i="1" dirty="0">
                <a:solidFill>
                  <a:srgbClr val="52514E"/>
                </a:solidFill>
                <a:latin typeface="Calibri" pitchFamily="34" charset="0"/>
                <a:ea typeface="Calibri" pitchFamily="34" charset="-122"/>
                <a:cs typeface="Calibri" pitchFamily="34" charset="-120"/>
              </a:rPr>
              <a:t>Rank correlation between annual deaths and annual damage: -0.01.</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0243E"/>
        </a:solidFill>
      </p:bgPr>
    </p:bg>
    <p:spTree>
      <p:nvGrpSpPr>
        <p:cNvPr id="1" name=""/>
        <p:cNvGrpSpPr/>
        <p:nvPr/>
      </p:nvGrpSpPr>
      <p:grpSpPr>
        <a:xfrm>
          <a:off x="0" y="0"/>
          <a:ext cx="0" cy="0"/>
          <a:chOff x="0" y="0"/>
          <a:chExt cx="0" cy="0"/>
        </a:xfrm>
      </p:grpSpPr>
      <p:sp>
        <p:nvSpPr>
          <p:cNvPr id="2" name="Text 0"/>
          <p:cNvSpPr txBox="1"/>
          <p:nvPr/>
        </p:nvSpPr>
        <p:spPr>
          <a:xfrm>
            <a:off x="457200" y="658368"/>
            <a:ext cx="8229600" cy="566928"/>
          </a:xfrm>
          <a:prstGeom prst="rect">
            <a:avLst/>
          </a:prstGeom>
          <a:noFill/>
          <a:ln/>
        </p:spPr>
        <p:txBody>
          <a:bodyPr wrap="square" lIns="0" tIns="0" rIns="0" bIns="0" rtlCol="0" anchor="ctr"/>
          <a:lstStyle/>
          <a:p>
            <a:pPr indent="0" marL="0">
              <a:buNone/>
            </a:pPr>
            <a:r>
              <a:rPr lang="en-US" sz="2800" b="1" dirty="0">
                <a:solidFill>
                  <a:srgbClr val="FFFFFF"/>
                </a:solidFill>
                <a:latin typeface="Calibri" pitchFamily="34" charset="0"/>
                <a:ea typeface="Calibri" pitchFamily="34" charset="-122"/>
                <a:cs typeface="Calibri" pitchFamily="34" charset="-120"/>
              </a:rPr>
              <a:t>Exposure up. Vulnerability down. The bill still rising.</a:t>
            </a:r>
            <a:endParaRPr lang="en-US" sz="2800" dirty="0"/>
          </a:p>
        </p:txBody>
      </p:sp>
      <p:sp>
        <p:nvSpPr>
          <p:cNvPr id="3" name="Shape 1"/>
          <p:cNvSpPr/>
          <p:nvPr/>
        </p:nvSpPr>
        <p:spPr>
          <a:xfrm>
            <a:off x="457200" y="1627632"/>
            <a:ext cx="274320" cy="274320"/>
          </a:xfrm>
          <a:prstGeom prst="ellipse">
            <a:avLst/>
          </a:prstGeom>
          <a:solidFill>
            <a:srgbClr val="2A78D6"/>
          </a:solidFill>
          <a:ln w="12700">
            <a:solidFill>
              <a:srgbClr val="2A78D6"/>
            </a:solidFill>
            <a:prstDash val="solid"/>
          </a:ln>
        </p:spPr>
      </p:sp>
      <p:sp>
        <p:nvSpPr>
          <p:cNvPr id="4" name="Text 2"/>
          <p:cNvSpPr txBox="1"/>
          <p:nvPr/>
        </p:nvSpPr>
        <p:spPr>
          <a:xfrm>
            <a:off x="896112" y="1572768"/>
            <a:ext cx="2423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Exposure rose</a:t>
            </a:r>
            <a:endParaRPr lang="en-US" sz="1700" dirty="0"/>
          </a:p>
        </p:txBody>
      </p:sp>
      <p:sp>
        <p:nvSpPr>
          <p:cNvPr id="5" name="Text 3"/>
          <p:cNvSpPr txBox="1"/>
          <p:nvPr/>
        </p:nvSpPr>
        <p:spPr>
          <a:xfrm>
            <a:off x="3383280" y="1572768"/>
            <a:ext cx="5394960" cy="365760"/>
          </a:xfrm>
          <a:prstGeom prst="rect">
            <a:avLst/>
          </a:prstGeom>
          <a:noFill/>
          <a:ln/>
        </p:spPr>
        <p:txBody>
          <a:bodyPr wrap="square" lIns="0" tIns="0" rIns="0" bIns="0" rtlCol="0" anchor="ctr"/>
          <a:lstStyle/>
          <a:p>
            <a:pPr indent="0" marL="0">
              <a:buNone/>
            </a:pPr>
            <a:r>
              <a:rPr lang="en-US" sz="1350" dirty="0">
                <a:solidFill>
                  <a:srgbClr val="9FB3CC"/>
                </a:solidFill>
                <a:latin typeface="Calibri" pitchFamily="34" charset="0"/>
                <a:ea typeface="Calibri" pitchFamily="34" charset="-122"/>
                <a:cs typeface="Calibri" pitchFamily="34" charset="-120"/>
              </a:rPr>
              <a:t>more assets, more people - and much better reporting</a:t>
            </a:r>
            <a:endParaRPr lang="en-US" sz="1350" dirty="0"/>
          </a:p>
        </p:txBody>
      </p:sp>
      <p:sp>
        <p:nvSpPr>
          <p:cNvPr id="6" name="Shape 4"/>
          <p:cNvSpPr/>
          <p:nvPr/>
        </p:nvSpPr>
        <p:spPr>
          <a:xfrm>
            <a:off x="457200" y="2359152"/>
            <a:ext cx="274320" cy="274320"/>
          </a:xfrm>
          <a:prstGeom prst="ellipse">
            <a:avLst/>
          </a:prstGeom>
          <a:solidFill>
            <a:srgbClr val="1BAF7A"/>
          </a:solidFill>
          <a:ln w="12700">
            <a:solidFill>
              <a:srgbClr val="1BAF7A"/>
            </a:solidFill>
            <a:prstDash val="solid"/>
          </a:ln>
        </p:spPr>
      </p:sp>
      <p:sp>
        <p:nvSpPr>
          <p:cNvPr id="7" name="Text 5"/>
          <p:cNvSpPr txBox="1"/>
          <p:nvPr/>
        </p:nvSpPr>
        <p:spPr>
          <a:xfrm>
            <a:off x="896112" y="2304288"/>
            <a:ext cx="2423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Vulnerability fell</a:t>
            </a:r>
            <a:endParaRPr lang="en-US" sz="1700" dirty="0"/>
          </a:p>
        </p:txBody>
      </p:sp>
      <p:sp>
        <p:nvSpPr>
          <p:cNvPr id="8" name="Text 6"/>
          <p:cNvSpPr txBox="1"/>
          <p:nvPr/>
        </p:nvSpPr>
        <p:spPr>
          <a:xfrm>
            <a:off x="3383280" y="2304288"/>
            <a:ext cx="5394960" cy="365760"/>
          </a:xfrm>
          <a:prstGeom prst="rect">
            <a:avLst/>
          </a:prstGeom>
          <a:noFill/>
          <a:ln/>
        </p:spPr>
        <p:txBody>
          <a:bodyPr wrap="square" lIns="0" tIns="0" rIns="0" bIns="0" rtlCol="0" anchor="ctr"/>
          <a:lstStyle/>
          <a:p>
            <a:pPr indent="0" marL="0">
              <a:buNone/>
            </a:pPr>
            <a:r>
              <a:rPr lang="en-US" sz="1350" dirty="0">
                <a:solidFill>
                  <a:srgbClr val="9FB3CC"/>
                </a:solidFill>
                <a:latin typeface="Calibri" pitchFamily="34" charset="0"/>
                <a:ea typeface="Calibri" pitchFamily="34" charset="-122"/>
                <a:cs typeface="Calibri" pitchFamily="34" charset="-120"/>
              </a:rPr>
              <a:t>deaths per recorded event down 99.4% in a century</a:t>
            </a:r>
            <a:endParaRPr lang="en-US" sz="1350" dirty="0"/>
          </a:p>
        </p:txBody>
      </p:sp>
      <p:sp>
        <p:nvSpPr>
          <p:cNvPr id="9" name="Shape 7"/>
          <p:cNvSpPr/>
          <p:nvPr/>
        </p:nvSpPr>
        <p:spPr>
          <a:xfrm>
            <a:off x="457200" y="3090672"/>
            <a:ext cx="274320" cy="274320"/>
          </a:xfrm>
          <a:prstGeom prst="ellipse">
            <a:avLst/>
          </a:prstGeom>
          <a:solidFill>
            <a:srgbClr val="EB6834"/>
          </a:solidFill>
          <a:ln w="12700">
            <a:solidFill>
              <a:srgbClr val="EB6834"/>
            </a:solidFill>
            <a:prstDash val="solid"/>
          </a:ln>
        </p:spPr>
      </p:sp>
      <p:sp>
        <p:nvSpPr>
          <p:cNvPr id="10" name="Text 8"/>
          <p:cNvSpPr txBox="1"/>
          <p:nvPr/>
        </p:nvSpPr>
        <p:spPr>
          <a:xfrm>
            <a:off x="896112" y="3035808"/>
            <a:ext cx="242316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But unevenly</a:t>
            </a:r>
            <a:endParaRPr lang="en-US" sz="1700" dirty="0"/>
          </a:p>
        </p:txBody>
      </p:sp>
      <p:sp>
        <p:nvSpPr>
          <p:cNvPr id="11" name="Text 9"/>
          <p:cNvSpPr txBox="1"/>
          <p:nvPr/>
        </p:nvSpPr>
        <p:spPr>
          <a:xfrm>
            <a:off x="3383280" y="3035808"/>
            <a:ext cx="5394960" cy="365760"/>
          </a:xfrm>
          <a:prstGeom prst="rect">
            <a:avLst/>
          </a:prstGeom>
          <a:noFill/>
          <a:ln/>
        </p:spPr>
        <p:txBody>
          <a:bodyPr wrap="square" lIns="0" tIns="0" rIns="0" bIns="0" rtlCol="0" anchor="ctr"/>
          <a:lstStyle/>
          <a:p>
            <a:pPr indent="0" marL="0">
              <a:buNone/>
            </a:pPr>
            <a:r>
              <a:rPr lang="en-US" sz="1350" dirty="0">
                <a:solidFill>
                  <a:srgbClr val="9FB3CC"/>
                </a:solidFill>
                <a:latin typeface="Calibri" pitchFamily="34" charset="0"/>
                <a:ea typeface="Calibri" pitchFamily="34" charset="-122"/>
                <a:cs typeface="Calibri" pitchFamily="34" charset="-120"/>
              </a:rPr>
              <a:t>2 countries carry half of all deaths; heat is getting worse</a:t>
            </a:r>
            <a:endParaRPr lang="en-US" sz="1350" dirty="0"/>
          </a:p>
        </p:txBody>
      </p:sp>
      <p:sp>
        <p:nvSpPr>
          <p:cNvPr id="12" name="Text 10"/>
          <p:cNvSpPr txBox="1"/>
          <p:nvPr/>
        </p:nvSpPr>
        <p:spPr>
          <a:xfrm>
            <a:off x="457200" y="3913632"/>
            <a:ext cx="8229600" cy="402336"/>
          </a:xfrm>
          <a:prstGeom prst="rect">
            <a:avLst/>
          </a:prstGeom>
          <a:noFill/>
          <a:ln/>
        </p:spPr>
        <p:txBody>
          <a:bodyPr wrap="square" lIns="0" tIns="0" rIns="0" bIns="0" rtlCol="0" anchor="ctr"/>
          <a:lstStyle/>
          <a:p>
            <a:pPr indent="0" marL="0">
              <a:buNone/>
            </a:pPr>
            <a:r>
              <a:rPr lang="en-US" sz="1250" i="1" dirty="0">
                <a:solidFill>
                  <a:srgbClr val="7C93AD"/>
                </a:solidFill>
                <a:latin typeface="Calibri" pitchFamily="34" charset="0"/>
                <a:ea typeface="Calibri" pitchFamily="34" charset="-122"/>
                <a:cs typeface="Calibri" pitchFamily="34" charset="-120"/>
              </a:rPr>
              <a:t>And one caveat on our own headline: most of the fall in total deaths is the loss of mega-catastrophes, not a broad decline.</a:t>
            </a:r>
            <a:endParaRPr lang="en-US" sz="1250" dirty="0"/>
          </a:p>
        </p:txBody>
      </p:sp>
      <p:sp>
        <p:nvSpPr>
          <p:cNvPr id="13" name="Text 11"/>
          <p:cNvSpPr txBox="1"/>
          <p:nvPr/>
        </p:nvSpPr>
        <p:spPr>
          <a:xfrm>
            <a:off x="457200" y="4393692"/>
            <a:ext cx="8229600" cy="365760"/>
          </a:xfrm>
          <a:prstGeom prst="rect">
            <a:avLst/>
          </a:prstGeom>
          <a:noFill/>
          <a:ln/>
        </p:spPr>
        <p:txBody>
          <a:bodyPr wrap="square" lIns="0" tIns="0" rIns="0" bIns="0" rtlCol="0" anchor="ctr"/>
          <a:lstStyle/>
          <a:p>
            <a:pPr indent="0" marL="0">
              <a:buNone/>
            </a:pPr>
            <a:r>
              <a:rPr lang="en-US" sz="1700" b="1" dirty="0">
                <a:solidFill>
                  <a:srgbClr val="FFFFFF"/>
                </a:solidFill>
                <a:latin typeface="Calibri" pitchFamily="34" charset="0"/>
                <a:ea typeface="Calibri" pitchFamily="34" charset="-122"/>
                <a:cs typeface="Calibri" pitchFamily="34" charset="-120"/>
              </a:rPr>
              <a:t>Thank you.</a:t>
            </a:r>
            <a:endParaRPr lang="en-US" sz="17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DAS732 A1 - A Century of Natural Disasters</dc:title>
  <dc:subject>PptxGenJS Presentation</dc:subject>
  <dc:creator>Lakshya Jain, Arnav Jain, Kalpit</dc:creator>
  <cp:lastModifiedBy>Lakshya Jain, Arnav Jain, Kalpit</cp:lastModifiedBy>
  <cp:revision>1</cp:revision>
  <dcterms:created xsi:type="dcterms:W3CDTF">2026-09-18T16:04:42Z</dcterms:created>
  <dcterms:modified xsi:type="dcterms:W3CDTF">2026-09-18T16:04:42Z</dcterms:modified>
</cp:coreProperties>
</file>